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2" r:id="rId6"/>
    <p:sldId id="278" r:id="rId7"/>
    <p:sldId id="279"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A7B837-C5AE-4F04-BCDA-F21F0BA70B39}" type="datetimeFigureOut">
              <a:rPr lang="en-IN" smtClean="0"/>
              <a:t>05-08-2026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EB8C9-8C0C-4DB8-95B2-8BCA96937C7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BEB8C9-8C0C-4DB8-95B2-8BCA96937C7B}" type="slidenum">
              <a:rPr lang="en-IN" smtClean="0"/>
              <a:t>3</a:t>
            </a:fld>
            <a:endParaRPr lang="en-IN"/>
          </a:p>
        </p:txBody>
      </p:sp>
    </p:spTree>
    <p:extLst>
      <p:ext uri="{BB962C8B-B14F-4D97-AF65-F5344CB8AC3E}">
        <p14:creationId xmlns:p14="http://schemas.microsoft.com/office/powerpoint/2010/main" val="1913686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B7828A-6D6B-4C46-8ABE-D051A08C2DE1}" type="datetime1">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E393438-67B8-4262-B2F1-9984AFF131E1}" type="datetime1">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A054ADA-6AC7-4379-AE91-F3398FF045BE}" type="datetime1">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7BF563E-B5DC-431B-B4D0-C940763D0DE6}" type="datetime1">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AF2842F-AC22-4682-AAA4-E46A164971AD}" type="datetime1">
              <a:rPr lang="en-IN" smtClean="0"/>
              <a:t>05-08-2026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894C9F1-D255-40FF-A808-449CB3C333C9}" type="datetime1">
              <a:rPr lang="en-IN" smtClean="0"/>
              <a:t>05-08-2026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1065F4-9D49-466F-B5D3-3E5BE6953EEA}" type="datetime1">
              <a:rPr lang="en-IN" smtClean="0"/>
              <a:t>05-08-2026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2610766-6C17-40F5-BC3D-D541FFE859D3}" type="datetime1">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B39714A-0EA7-43CF-A789-B500D515588B}" type="datetime1">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83873E0-F0DC-47B8-97FD-A28116D832F0}" type="datetime1">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BFBFDF-F63D-4B6B-9C65-D06619F1DDBE}" type="datetime1">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77372A-8801-419B-B26E-3CAAF3336438}" type="datetime1">
              <a:rPr lang="en-IN" smtClean="0"/>
              <a:t>05-08-2026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13B45-0786-488C-9F83-DB626DC1C02A}"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77258" y="3174387"/>
            <a:ext cx="9826171" cy="1658869"/>
          </a:xfrm>
        </p:spPr>
        <p:txBody>
          <a:bodyPr>
            <a:normAutofit fontScale="25000" lnSpcReduction="20000"/>
          </a:bodyPr>
          <a:lstStyle/>
          <a:p>
            <a:pPr lvl="0" algn="ctr"/>
            <a:r>
              <a:rPr lang="en-IN" sz="11200" b="1" dirty="0"/>
              <a:t>Course name :    </a:t>
            </a:r>
            <a:r>
              <a:rPr lang="en-US" sz="11200" b="1" dirty="0"/>
              <a:t> </a:t>
            </a:r>
            <a:r>
              <a:rPr lang="en-IN" altLang="en-US" sz="11200" b="1" dirty="0"/>
              <a:t>Data Science</a:t>
            </a:r>
          </a:p>
          <a:p>
            <a:pPr lvl="0" algn="ctr"/>
            <a:r>
              <a:rPr lang="en-IN" sz="11200" b="1" dirty="0">
                <a:sym typeface="+mn-ea"/>
              </a:rPr>
              <a:t>Course code :      </a:t>
            </a:r>
            <a:r>
              <a:rPr lang="en-US" sz="11200" b="1" dirty="0">
                <a:sym typeface="+mn-ea"/>
              </a:rPr>
              <a:t> </a:t>
            </a:r>
            <a:r>
              <a:rPr lang="en-IN" altLang="en-US" sz="11200" b="1" dirty="0">
                <a:sym typeface="+mn-ea"/>
              </a:rPr>
              <a:t>U23AD491</a:t>
            </a:r>
            <a:endParaRPr lang="en-IN" altLang="en-US" sz="11200" b="1" dirty="0"/>
          </a:p>
          <a:p>
            <a:pPr lvl="0"/>
            <a:endParaRPr lang="en-IN" b="1" dirty="0"/>
          </a:p>
          <a:p>
            <a:r>
              <a:rPr lang="en-US" sz="11200" b="1" dirty="0">
                <a:solidFill>
                  <a:srgbClr val="4E18E8"/>
                </a:solidFill>
                <a:latin typeface="Times New Roman" panose="02020603050405020304" pitchFamily="18" charset="0"/>
                <a:cs typeface="Times New Roman" panose="02020603050405020304" pitchFamily="18" charset="0"/>
              </a:rPr>
              <a:t>Title of the project :</a:t>
            </a:r>
          </a:p>
          <a:p>
            <a:endParaRPr lang="en-US" sz="9335" b="1" dirty="0">
              <a:solidFill>
                <a:schemeClr val="accent1">
                  <a:lumMod val="75000"/>
                </a:schemeClr>
              </a:solidFill>
              <a:latin typeface="Times New Roman" panose="02020603050405020304" pitchFamily="18" charset="0"/>
              <a:cs typeface="Times New Roman" panose="02020603050405020304" pitchFamily="18" charset="0"/>
            </a:endParaRPr>
          </a:p>
          <a:p>
            <a:r>
              <a:rPr lang="en-IN" sz="11200" b="1" i="0" dirty="0">
                <a:solidFill>
                  <a:schemeClr val="accent1">
                    <a:lumMod val="75000"/>
                  </a:schemeClr>
                </a:solidFill>
                <a:effectLst/>
                <a:latin typeface="Arial" panose="020B0604020202020204" pitchFamily="34" charset="0"/>
              </a:rPr>
              <a:t>Multi-Factor Investment Intelligence Platform</a:t>
            </a:r>
            <a:endParaRPr lang="en-US" sz="11200" b="1" dirty="0">
              <a:solidFill>
                <a:schemeClr val="accent1">
                  <a:lumMod val="75000"/>
                </a:schemeClr>
              </a:solidFill>
              <a:latin typeface="Times New Roman" panose="02020603050405020304" pitchFamily="18" charset="0"/>
              <a:cs typeface="Times New Roman" panose="02020603050405020304" pitchFamily="18" charset="0"/>
            </a:endParaRPr>
          </a:p>
          <a:p>
            <a:endParaRPr lang="en-IN" b="1" dirty="0">
              <a:solidFill>
                <a:srgbClr val="4E18E8"/>
              </a:solidFill>
              <a:latin typeface="Times New Roman" panose="02020603050405020304" pitchFamily="18" charset="0"/>
              <a:cs typeface="Times New Roman" panose="02020603050405020304" pitchFamily="18" charset="0"/>
            </a:endParaRPr>
          </a:p>
          <a:p>
            <a:pPr lvl="0"/>
            <a:endParaRPr lang="en-IN" dirty="0"/>
          </a:p>
          <a:p>
            <a:endParaRPr lang="en-IN" dirty="0"/>
          </a:p>
        </p:txBody>
      </p:sp>
      <p:pic>
        <p:nvPicPr>
          <p:cNvPr id="4" name="Image 1"/>
          <p:cNvPicPr/>
          <p:nvPr/>
        </p:nvPicPr>
        <p:blipFill>
          <a:blip r:embed="rId2" cstate="print"/>
          <a:stretch>
            <a:fillRect/>
          </a:stretch>
        </p:blipFill>
        <p:spPr>
          <a:xfrm>
            <a:off x="1930401" y="459763"/>
            <a:ext cx="9173028" cy="1141049"/>
          </a:xfrm>
          <a:prstGeom prst="rect">
            <a:avLst/>
          </a:prstGeom>
        </p:spPr>
      </p:pic>
      <p:sp>
        <p:nvSpPr>
          <p:cNvPr id="5" name="Rectangle 3"/>
          <p:cNvSpPr>
            <a:spLocks noChangeArrowheads="1"/>
          </p:cNvSpPr>
          <p:nvPr/>
        </p:nvSpPr>
        <p:spPr bwMode="auto">
          <a:xfrm>
            <a:off x="1732642" y="2367870"/>
            <a:ext cx="8274050" cy="460375"/>
          </a:xfrm>
          <a:prstGeom prst="rect">
            <a:avLst/>
          </a:prstGeom>
          <a:solidFill>
            <a:srgbClr val="FFFF00"/>
          </a:solid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b="1" dirty="0">
                <a:solidFill>
                  <a:srgbClr val="C00000"/>
                </a:solidFill>
                <a:latin typeface="Calibri" panose="020F0502020204030204" pitchFamily="34" charset="0"/>
              </a:rPr>
              <a:t>Department of </a:t>
            </a:r>
            <a:r>
              <a:rPr lang="en-GB" altLang="en-US" sz="2400" b="1" dirty="0">
                <a:solidFill>
                  <a:srgbClr val="C00000"/>
                </a:solidFill>
                <a:latin typeface="Calibri" panose="020F0502020204030204" pitchFamily="34" charset="0"/>
              </a:rPr>
              <a:t>Computer Science and</a:t>
            </a:r>
            <a:r>
              <a:rPr lang="en-US" altLang="en-US" sz="2400" b="1" dirty="0">
                <a:solidFill>
                  <a:srgbClr val="C00000"/>
                </a:solidFill>
                <a:latin typeface="Calibri" panose="020F0502020204030204" pitchFamily="34" charset="0"/>
              </a:rPr>
              <a:t>  Engineering</a:t>
            </a:r>
            <a:endParaRPr lang="en-US" altLang="en-US" sz="2400" dirty="0">
              <a:solidFill>
                <a:srgbClr val="C00000"/>
              </a:solidFill>
              <a:latin typeface="Calibri" panose="020F0502020204030204" pitchFamily="34" charset="0"/>
            </a:endParaRPr>
          </a:p>
        </p:txBody>
      </p:sp>
      <p:sp>
        <p:nvSpPr>
          <p:cNvPr id="6" name="Date Placeholder 5"/>
          <p:cNvSpPr>
            <a:spLocks noGrp="1"/>
          </p:cNvSpPr>
          <p:nvPr>
            <p:ph type="dt" sz="half" idx="10"/>
          </p:nvPr>
        </p:nvSpPr>
        <p:spPr/>
        <p:txBody>
          <a:bodyPr/>
          <a:lstStyle/>
          <a:p>
            <a:r>
              <a:rPr lang="en-IN" dirty="0"/>
              <a:t>13-07-2026</a:t>
            </a:r>
          </a:p>
          <a:p>
            <a:endParaRPr lang="en-IN" dirty="0"/>
          </a:p>
        </p:txBody>
      </p:sp>
      <p:sp>
        <p:nvSpPr>
          <p:cNvPr id="7" name="Slide Number Placeholder 6"/>
          <p:cNvSpPr>
            <a:spLocks noGrp="1"/>
          </p:cNvSpPr>
          <p:nvPr>
            <p:ph type="sldNum" sz="quarter" idx="12"/>
          </p:nvPr>
        </p:nvSpPr>
        <p:spPr/>
        <p:txBody>
          <a:bodyPr/>
          <a:lstStyle/>
          <a:p>
            <a:fld id="{FF913B45-0786-488C-9F83-DB626DC1C02A}" type="slidenum">
              <a:rPr lang="en-IN" smtClean="0"/>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p:cNvPicPr/>
          <p:nvPr/>
        </p:nvPicPr>
        <p:blipFill>
          <a:blip r:embed="rId2" cstate="print"/>
          <a:stretch>
            <a:fillRect/>
          </a:stretch>
        </p:blipFill>
        <p:spPr>
          <a:xfrm>
            <a:off x="1393372" y="169477"/>
            <a:ext cx="9173028" cy="1141049"/>
          </a:xfrm>
          <a:prstGeom prst="rect">
            <a:avLst/>
          </a:prstGeom>
        </p:spPr>
      </p:pic>
      <p:sp>
        <p:nvSpPr>
          <p:cNvPr id="7" name="Slide Number Placeholder 6"/>
          <p:cNvSpPr>
            <a:spLocks noGrp="1"/>
          </p:cNvSpPr>
          <p:nvPr>
            <p:ph type="sldNum" sz="quarter" idx="12"/>
          </p:nvPr>
        </p:nvSpPr>
        <p:spPr/>
        <p:txBody>
          <a:bodyPr/>
          <a:lstStyle/>
          <a:p>
            <a:fld id="{FF913B45-0786-488C-9F83-DB626DC1C02A}" type="slidenum">
              <a:rPr lang="en-IN" smtClean="0"/>
              <a:t>2</a:t>
            </a:fld>
            <a:endParaRPr lang="en-IN"/>
          </a:p>
        </p:txBody>
      </p:sp>
      <p:graphicFrame>
        <p:nvGraphicFramePr>
          <p:cNvPr id="8" name="Table 7"/>
          <p:cNvGraphicFramePr>
            <a:graphicFrameLocks noGrp="1"/>
          </p:cNvGraphicFramePr>
          <p:nvPr>
            <p:extLst>
              <p:ext uri="{D42A27DB-BD31-4B8C-83A1-F6EECF244321}">
                <p14:modId xmlns:p14="http://schemas.microsoft.com/office/powerpoint/2010/main" val="3165948240"/>
              </p:ext>
            </p:extLst>
          </p:nvPr>
        </p:nvGraphicFramePr>
        <p:xfrm>
          <a:off x="1393372" y="1454727"/>
          <a:ext cx="8892622" cy="5192311"/>
        </p:xfrm>
        <a:graphic>
          <a:graphicData uri="http://schemas.openxmlformats.org/drawingml/2006/table">
            <a:tbl>
              <a:tblPr firstRow="1" bandRow="1">
                <a:tableStyleId>{5C22544A-7EE6-4342-B048-85BDC9FD1C3A}</a:tableStyleId>
              </a:tblPr>
              <a:tblGrid>
                <a:gridCol w="4061042">
                  <a:extLst>
                    <a:ext uri="{9D8B030D-6E8A-4147-A177-3AD203B41FA5}">
                      <a16:colId xmlns:a16="http://schemas.microsoft.com/office/drawing/2014/main" val="20000"/>
                    </a:ext>
                  </a:extLst>
                </a:gridCol>
                <a:gridCol w="302470">
                  <a:extLst>
                    <a:ext uri="{9D8B030D-6E8A-4147-A177-3AD203B41FA5}">
                      <a16:colId xmlns:a16="http://schemas.microsoft.com/office/drawing/2014/main" val="20001"/>
                    </a:ext>
                  </a:extLst>
                </a:gridCol>
                <a:gridCol w="4529110">
                  <a:extLst>
                    <a:ext uri="{9D8B030D-6E8A-4147-A177-3AD203B41FA5}">
                      <a16:colId xmlns:a16="http://schemas.microsoft.com/office/drawing/2014/main" val="20002"/>
                    </a:ext>
                  </a:extLst>
                </a:gridCol>
              </a:tblGrid>
              <a:tr h="342498">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Class / Section / Semester </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anose="02020603050405020304" pitchFamily="18" charset="0"/>
                          <a:ea typeface="+mn-ea"/>
                          <a:cs typeface="Times New Roman" panose="02020603050405020304" pitchFamily="18" charset="0"/>
                        </a:rPr>
                        <a:t>:</a:t>
                      </a:r>
                      <a:endParaRPr lang="en-IN" sz="1800" b="1" kern="120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GB" sz="1800" b="1" kern="1200" dirty="0">
                          <a:solidFill>
                            <a:srgbClr val="4E18E8"/>
                          </a:solidFill>
                          <a:latin typeface="Times New Roman" panose="02020603050405020304" pitchFamily="18" charset="0"/>
                          <a:ea typeface="+mn-ea"/>
                          <a:cs typeface="Times New Roman" panose="02020603050405020304" pitchFamily="18" charset="0"/>
                        </a:rPr>
                        <a:t>I</a:t>
                      </a:r>
                      <a:r>
                        <a:rPr lang="en-IN" altLang="en-GB" sz="1800" b="1" kern="1200" dirty="0">
                          <a:solidFill>
                            <a:srgbClr val="4E18E8"/>
                          </a:solidFill>
                          <a:latin typeface="Times New Roman" panose="02020603050405020304" pitchFamily="18" charset="0"/>
                          <a:ea typeface="+mn-ea"/>
                          <a:cs typeface="Times New Roman" panose="02020603050405020304" pitchFamily="18" charset="0"/>
                        </a:rPr>
                        <a:t>II</a:t>
                      </a:r>
                      <a:r>
                        <a:rPr lang="en-GB" sz="1800" b="1" kern="1200" dirty="0">
                          <a:solidFill>
                            <a:srgbClr val="4E18E8"/>
                          </a:solidFill>
                          <a:latin typeface="Times New Roman" panose="02020603050405020304" pitchFamily="18" charset="0"/>
                          <a:ea typeface="+mn-ea"/>
                          <a:cs typeface="Times New Roman" panose="02020603050405020304" pitchFamily="18" charset="0"/>
                        </a:rPr>
                        <a:t> CSE</a:t>
                      </a:r>
                      <a:r>
                        <a:rPr lang="en-US" sz="1800" b="1" kern="1200" dirty="0">
                          <a:solidFill>
                            <a:srgbClr val="4E18E8"/>
                          </a:solidFill>
                          <a:latin typeface="Times New Roman" panose="02020603050405020304" pitchFamily="18" charset="0"/>
                          <a:ea typeface="+mn-ea"/>
                          <a:cs typeface="Times New Roman" panose="02020603050405020304" pitchFamily="18" charset="0"/>
                        </a:rPr>
                        <a:t> / A / </a:t>
                      </a:r>
                      <a:r>
                        <a:rPr lang="en-IN" altLang="en-US" sz="1800" b="1" kern="1200" dirty="0">
                          <a:solidFill>
                            <a:srgbClr val="4E18E8"/>
                          </a:solidFill>
                          <a:latin typeface="Times New Roman" panose="02020603050405020304" pitchFamily="18" charset="0"/>
                          <a:ea typeface="+mn-ea"/>
                          <a:cs typeface="Times New Roman" panose="02020603050405020304" pitchFamily="18" charset="0"/>
                        </a:rPr>
                        <a:t>V</a:t>
                      </a:r>
                    </a:p>
                  </a:txBody>
                  <a:tcPr marL="84560" marR="84560" marT="42280" marB="42280">
                    <a:noFill/>
                  </a:tcPr>
                </a:tc>
                <a:extLst>
                  <a:ext uri="{0D108BD9-81ED-4DB2-BD59-A6C34878D82A}">
                    <a16:rowId xmlns:a16="http://schemas.microsoft.com/office/drawing/2014/main" val="10000"/>
                  </a:ext>
                </a:extLst>
              </a:tr>
              <a:tr h="342498">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Batch</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anose="02020603050405020304" pitchFamily="18" charset="0"/>
                          <a:ea typeface="+mn-ea"/>
                          <a:cs typeface="Times New Roman" panose="02020603050405020304" pitchFamily="18" charset="0"/>
                        </a:rPr>
                        <a:t>:</a:t>
                      </a:r>
                      <a:endParaRPr lang="en-IN" sz="1800" b="1" kern="120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 20</a:t>
                      </a:r>
                      <a:r>
                        <a:rPr lang="en-GB" sz="1800" b="1" kern="1200" dirty="0">
                          <a:solidFill>
                            <a:srgbClr val="4E18E8"/>
                          </a:solidFill>
                          <a:latin typeface="Times New Roman" panose="02020603050405020304" pitchFamily="18" charset="0"/>
                          <a:ea typeface="+mn-ea"/>
                          <a:cs typeface="Times New Roman" panose="02020603050405020304" pitchFamily="18" charset="0"/>
                        </a:rPr>
                        <a:t>24-2028</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extLst>
                  <a:ext uri="{0D108BD9-81ED-4DB2-BD59-A6C34878D82A}">
                    <a16:rowId xmlns:a16="http://schemas.microsoft.com/office/drawing/2014/main" val="10001"/>
                  </a:ext>
                </a:extLst>
              </a:tr>
              <a:tr h="604296">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Project Review </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anose="02020603050405020304" pitchFamily="18" charset="0"/>
                          <a:ea typeface="+mn-ea"/>
                          <a:cs typeface="Times New Roman" panose="02020603050405020304" pitchFamily="18" charset="0"/>
                        </a:rPr>
                        <a:t>:</a:t>
                      </a:r>
                      <a:endParaRPr lang="en-IN" sz="1800" b="1" kern="120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 First Review</a:t>
                      </a:r>
                    </a:p>
                    <a:p>
                      <a:pPr marL="0" algn="l" defTabSz="914400" rtl="0" eaLnBrk="1" latinLnBrk="0" hangingPunct="1">
                        <a:spcAft>
                          <a:spcPts val="0"/>
                        </a:spcAft>
                      </a:pP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extLst>
                  <a:ext uri="{0D108BD9-81ED-4DB2-BD59-A6C34878D82A}">
                    <a16:rowId xmlns:a16="http://schemas.microsoft.com/office/drawing/2014/main" val="10002"/>
                  </a:ext>
                </a:extLst>
              </a:tr>
              <a:tr h="342498">
                <a:tc>
                  <a:txBody>
                    <a:bodyPr/>
                    <a:lstStyle/>
                    <a:p>
                      <a:pPr marL="0" algn="l" defTabSz="914400" rtl="0" eaLnBrk="1" latinLnBrk="0" hangingPunct="1">
                        <a:spcAft>
                          <a:spcPts val="0"/>
                        </a:spcAft>
                      </a:pPr>
                      <a:r>
                        <a:rPr lang="en-IN" sz="1800" b="1" kern="1200" dirty="0">
                          <a:solidFill>
                            <a:srgbClr val="4E18E8"/>
                          </a:solidFill>
                          <a:latin typeface="Times New Roman" panose="02020603050405020304" pitchFamily="18" charset="0"/>
                          <a:ea typeface="+mn-ea"/>
                          <a:cs typeface="Times New Roman" panose="02020603050405020304" pitchFamily="18" charset="0"/>
                        </a:rPr>
                        <a:t>                                                 </a:t>
                      </a:r>
                    </a:p>
                  </a:txBody>
                  <a:tcPr marL="84560" marR="84560" marT="42280" marB="42280">
                    <a:noFill/>
                  </a:tcPr>
                </a:tc>
                <a:tc>
                  <a:txBody>
                    <a:bodyPr/>
                    <a:lstStyle/>
                    <a:p>
                      <a:pPr marL="0" algn="l" defTabSz="914400" rtl="0" eaLnBrk="1" latinLnBrk="0" hangingPunct="1">
                        <a:spcAft>
                          <a:spcPts val="0"/>
                        </a:spcAft>
                      </a:pP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extLst>
                  <a:ext uri="{0D108BD9-81ED-4DB2-BD59-A6C34878D82A}">
                    <a16:rowId xmlns:a16="http://schemas.microsoft.com/office/drawing/2014/main" val="10003"/>
                  </a:ext>
                </a:extLst>
              </a:tr>
              <a:tr h="342498">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Date</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 13.07.2026</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extLst>
                  <a:ext uri="{0D108BD9-81ED-4DB2-BD59-A6C34878D82A}">
                    <a16:rowId xmlns:a16="http://schemas.microsoft.com/office/drawing/2014/main" val="10004"/>
                  </a:ext>
                </a:extLst>
              </a:tr>
              <a:tr h="752899">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Faculty I/C</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IN" sz="1800" b="1" kern="1200" dirty="0">
                          <a:solidFill>
                            <a:srgbClr val="4E18E8"/>
                          </a:solidFill>
                          <a:latin typeface="Times New Roman" panose="02020603050405020304" pitchFamily="18" charset="0"/>
                          <a:ea typeface="+mn-ea"/>
                          <a:cs typeface="Times New Roman" panose="02020603050405020304" pitchFamily="18" charset="0"/>
                        </a:rPr>
                        <a:t>Dr. M. Suriya, M.E., Ph.D., AP/CSE</a:t>
                      </a:r>
                    </a:p>
                    <a:p>
                      <a:pPr marL="0" algn="l" defTabSz="914400" rtl="0" eaLnBrk="1" latinLnBrk="0" hangingPunct="1">
                        <a:spcAft>
                          <a:spcPts val="0"/>
                        </a:spcAft>
                      </a:pP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extLst>
                  <a:ext uri="{0D108BD9-81ED-4DB2-BD59-A6C34878D82A}">
                    <a16:rowId xmlns:a16="http://schemas.microsoft.com/office/drawing/2014/main" val="10005"/>
                  </a:ext>
                </a:extLst>
              </a:tr>
              <a:tr h="1046543">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Title</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anose="02020603050405020304" pitchFamily="18" charset="0"/>
                          <a:ea typeface="+mn-ea"/>
                          <a:cs typeface="Times New Roman" panose="02020603050405020304" pitchFamily="18" charset="0"/>
                        </a:rPr>
                        <a:t>:</a:t>
                      </a:r>
                      <a:endParaRPr lang="en-IN" sz="1800" b="1" kern="120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cap="none" spc="0" dirty="0">
                          <a:ln w="0"/>
                          <a:solidFill>
                            <a:srgbClr val="002060"/>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Multi-Factor Investment Intelligence Platform</a:t>
                      </a:r>
                    </a:p>
                    <a:p>
                      <a:pPr marL="0" marR="0" lvl="0" indent="0" algn="l" defTabSz="914400" rtl="0" eaLnBrk="1" fontAlgn="auto" latinLnBrk="0" hangingPunct="1">
                        <a:lnSpc>
                          <a:spcPct val="100000"/>
                        </a:lnSpc>
                        <a:spcBef>
                          <a:spcPts val="0"/>
                        </a:spcBef>
                        <a:spcAft>
                          <a:spcPts val="0"/>
                        </a:spcAft>
                        <a:buClrTx/>
                        <a:buSzTx/>
                        <a:buFontTx/>
                        <a:buNone/>
                        <a:defRPr/>
                      </a:pPr>
                      <a:endParaRPr lang="en-US" sz="1800" b="1" kern="1200" dirty="0">
                        <a:solidFill>
                          <a:srgbClr val="4E18E8"/>
                        </a:solidFill>
                        <a:latin typeface="Times New Roman" panose="02020603050405020304" pitchFamily="18" charset="0"/>
                        <a:ea typeface="+mn-ea"/>
                        <a:cs typeface="Times New Roman" panose="02020603050405020304" pitchFamily="18" charset="0"/>
                      </a:endParaRPr>
                    </a:p>
                    <a:p>
                      <a:pPr marL="0" algn="l" defTabSz="914400" rtl="0" eaLnBrk="1" latinLnBrk="0" hangingPunct="1">
                        <a:spcAft>
                          <a:spcPts val="0"/>
                        </a:spcAft>
                      </a:pP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extLst>
                  <a:ext uri="{0D108BD9-81ED-4DB2-BD59-A6C34878D82A}">
                    <a16:rowId xmlns:a16="http://schemas.microsoft.com/office/drawing/2014/main" val="10006"/>
                  </a:ext>
                </a:extLst>
              </a:tr>
              <a:tr h="1127892">
                <a:tc>
                  <a:txBody>
                    <a:bodyPr/>
                    <a:lstStyle/>
                    <a:p>
                      <a:pPr marL="0" algn="l" defTabSz="914400" rtl="0" eaLnBrk="1" latinLnBrk="0" hangingPunct="1">
                        <a:spcAft>
                          <a:spcPts val="0"/>
                        </a:spcAft>
                      </a:pPr>
                      <a:r>
                        <a:rPr lang="en-US" sz="1800" b="1" kern="1200" dirty="0">
                          <a:solidFill>
                            <a:srgbClr val="4E18E8"/>
                          </a:solidFill>
                          <a:latin typeface="Times New Roman" panose="02020603050405020304" pitchFamily="18" charset="0"/>
                          <a:ea typeface="+mn-ea"/>
                          <a:cs typeface="Times New Roman" panose="02020603050405020304" pitchFamily="18" charset="0"/>
                        </a:rPr>
                        <a:t>Student Name &amp; Reg No</a:t>
                      </a:r>
                      <a:endParaRPr lang="en-IN" sz="1800" b="1" kern="1200" dirty="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anose="02020603050405020304" pitchFamily="18" charset="0"/>
                          <a:ea typeface="+mn-ea"/>
                          <a:cs typeface="Times New Roman" panose="02020603050405020304" pitchFamily="18" charset="0"/>
                        </a:rPr>
                        <a:t>:</a:t>
                      </a:r>
                      <a:endParaRPr lang="en-IN" sz="1800" b="1" kern="1200">
                        <a:solidFill>
                          <a:srgbClr val="4E18E8"/>
                        </a:solidFill>
                        <a:latin typeface="Times New Roman" panose="02020603050405020304" pitchFamily="18" charset="0"/>
                        <a:ea typeface="+mn-ea"/>
                        <a:cs typeface="Times New Roman" panose="02020603050405020304"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3333FF"/>
                          </a:solidFill>
                          <a:latin typeface="Times New Roman" panose="02020603050405020304" pitchFamily="18" charset="0"/>
                          <a:ea typeface="+mn-ea"/>
                          <a:cs typeface="Times New Roman" panose="02020603050405020304" pitchFamily="18" charset="0"/>
                        </a:rPr>
                        <a:t> Dhanushya T[722824104052]</a:t>
                      </a:r>
                    </a:p>
                  </a:txBody>
                  <a:tcPr marL="84560" marR="84560" marT="42280" marB="42280">
                    <a:noFill/>
                  </a:tcPr>
                </a:tc>
                <a:extLst>
                  <a:ext uri="{0D108BD9-81ED-4DB2-BD59-A6C34878D82A}">
                    <a16:rowId xmlns:a16="http://schemas.microsoft.com/office/drawing/2014/main" val="10007"/>
                  </a:ext>
                </a:extLst>
              </a:tr>
            </a:tbl>
          </a:graphicData>
        </a:graphic>
      </p:graphicFrame>
      <p:sp>
        <p:nvSpPr>
          <p:cNvPr id="9" name="Date Placeholder 5">
            <a:extLst>
              <a:ext uri="{FF2B5EF4-FFF2-40B4-BE49-F238E27FC236}">
                <a16:creationId xmlns:a16="http://schemas.microsoft.com/office/drawing/2014/main" id="{15962FD2-6432-4A0D-AF36-B8023C2857F6}"/>
              </a:ext>
            </a:extLst>
          </p:cNvPr>
          <p:cNvSpPr>
            <a:spLocks noGrp="1"/>
          </p:cNvSpPr>
          <p:nvPr>
            <p:ph type="dt" sz="half" idx="10"/>
          </p:nvPr>
        </p:nvSpPr>
        <p:spPr>
          <a:xfrm>
            <a:off x="838200" y="6356350"/>
            <a:ext cx="2743200" cy="365125"/>
          </a:xfrm>
        </p:spPr>
        <p:txBody>
          <a:bodyPr/>
          <a:lstStyle/>
          <a:p>
            <a:r>
              <a:rPr lang="en-IN" dirty="0"/>
              <a:t>13-07-2026</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title"/>
          </p:nvPr>
        </p:nvSpPr>
        <p:spPr bwMode="auto">
          <a:xfrm>
            <a:off x="4229100" y="293067"/>
            <a:ext cx="2381250"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800" b="1" dirty="0">
              <a:latin typeface="Calibri" panose="020F0502020204030204" pitchFamily="34" charset="0"/>
            </a:endParaRPr>
          </a:p>
          <a:p>
            <a:pPr algn="ctr" eaLnBrk="1" hangingPunct="1"/>
            <a:r>
              <a:rPr lang="en-US" altLang="en-US" sz="3200" b="1" dirty="0">
                <a:solidFill>
                  <a:srgbClr val="7030A0"/>
                </a:solidFill>
                <a:latin typeface="Times New Roman" panose="02020603050405020304" pitchFamily="18" charset="0"/>
                <a:cs typeface="Times New Roman" panose="02020603050405020304" pitchFamily="18" charset="0"/>
              </a:rPr>
              <a:t>Abstract</a:t>
            </a:r>
          </a:p>
          <a:p>
            <a:pPr algn="ctr" eaLnBrk="1" hangingPunct="1"/>
            <a:endParaRPr lang="en-US" altLang="en-US" sz="2000" b="1" dirty="0">
              <a:latin typeface="Calibri" panose="020F0502020204030204" pitchFamily="34" charset="0"/>
            </a:endParaRPr>
          </a:p>
          <a:p>
            <a:pPr algn="ctr" eaLnBrk="1" hangingPunct="1"/>
            <a:endParaRPr lang="en-US" altLang="en-US" sz="1200" dirty="0">
              <a:latin typeface="Calibri" panose="020F0502020204030204" pitchFamily="34" charset="0"/>
            </a:endParaRPr>
          </a:p>
          <a:p>
            <a:pPr algn="ctr" eaLnBrk="1" hangingPunct="1"/>
            <a:endParaRPr lang="en-US" altLang="en-US" sz="1200" dirty="0">
              <a:latin typeface="Calibri" panose="020F0502020204030204" pitchFamily="34" charset="0"/>
            </a:endParaRPr>
          </a:p>
        </p:txBody>
      </p:sp>
      <p:sp>
        <p:nvSpPr>
          <p:cNvPr id="6" name="Slide Number Placeholder 5"/>
          <p:cNvSpPr>
            <a:spLocks noGrp="1"/>
          </p:cNvSpPr>
          <p:nvPr>
            <p:ph type="sldNum" sz="quarter" idx="12"/>
          </p:nvPr>
        </p:nvSpPr>
        <p:spPr/>
        <p:txBody>
          <a:bodyPr/>
          <a:lstStyle/>
          <a:p>
            <a:fld id="{FF913B45-0786-488C-9F83-DB626DC1C02A}" type="slidenum">
              <a:rPr lang="en-IN" smtClean="0"/>
              <a:t>3</a:t>
            </a:fld>
            <a:endParaRPr lang="en-IN"/>
          </a:p>
        </p:txBody>
      </p:sp>
      <p:sp>
        <p:nvSpPr>
          <p:cNvPr id="7" name="Date Placeholder 5">
            <a:extLst>
              <a:ext uri="{FF2B5EF4-FFF2-40B4-BE49-F238E27FC236}">
                <a16:creationId xmlns:a16="http://schemas.microsoft.com/office/drawing/2014/main" id="{09ADF532-CD3C-435E-977A-6B8D9367A1C1}"/>
              </a:ext>
            </a:extLst>
          </p:cNvPr>
          <p:cNvSpPr>
            <a:spLocks noGrp="1"/>
          </p:cNvSpPr>
          <p:nvPr>
            <p:ph type="dt" sz="half" idx="10"/>
          </p:nvPr>
        </p:nvSpPr>
        <p:spPr>
          <a:xfrm>
            <a:off x="838200" y="6356350"/>
            <a:ext cx="2743200" cy="365125"/>
          </a:xfrm>
        </p:spPr>
        <p:txBody>
          <a:bodyPr/>
          <a:lstStyle/>
          <a:p>
            <a:r>
              <a:rPr lang="en-IN" dirty="0"/>
              <a:t>13-07-2026</a:t>
            </a:r>
          </a:p>
          <a:p>
            <a:endParaRPr lang="en-IN" dirty="0"/>
          </a:p>
        </p:txBody>
      </p:sp>
      <p:sp>
        <p:nvSpPr>
          <p:cNvPr id="9" name="Rectangle 4">
            <a:extLst>
              <a:ext uri="{FF2B5EF4-FFF2-40B4-BE49-F238E27FC236}">
                <a16:creationId xmlns:a16="http://schemas.microsoft.com/office/drawing/2014/main" id="{20B73D1E-D44A-4BF2-9606-2D5FC1A879E4}"/>
              </a:ext>
            </a:extLst>
          </p:cNvPr>
          <p:cNvSpPr>
            <a:spLocks noChangeArrowheads="1"/>
          </p:cNvSpPr>
          <p:nvPr/>
        </p:nvSpPr>
        <p:spPr bwMode="auto">
          <a:xfrm>
            <a:off x="957262" y="1145947"/>
            <a:ext cx="998696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Develops a </a:t>
            </a:r>
            <a:r>
              <a:rPr kumimoji="0" lang="en-US" altLang="en-US" sz="2000" b="1" i="0" u="none" strike="noStrike" cap="none" normalizeH="0" baseline="0" dirty="0">
                <a:ln>
                  <a:noFill/>
                </a:ln>
                <a:solidFill>
                  <a:schemeClr val="tx1"/>
                </a:solidFill>
                <a:effectLst/>
                <a:latin typeface="Arial" panose="020B0604020202020204" pitchFamily="34" charset="0"/>
              </a:rPr>
              <a:t>data-driven investment decision support system</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Collects data from </a:t>
            </a:r>
            <a:r>
              <a:rPr kumimoji="0" lang="en-US" altLang="en-US" sz="2000" b="1" i="0" u="none" strike="noStrike" cap="none" normalizeH="0" baseline="0" dirty="0">
                <a:ln>
                  <a:noFill/>
                </a:ln>
                <a:solidFill>
                  <a:schemeClr val="tx1"/>
                </a:solidFill>
                <a:effectLst/>
                <a:latin typeface="Arial" panose="020B0604020202020204" pitchFamily="34" charset="0"/>
              </a:rPr>
              <a:t>stock prices, financial statements, technical indicators, market sentiment, and economic factors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Performs </a:t>
            </a:r>
            <a:r>
              <a:rPr kumimoji="0" lang="en-US" altLang="en-US" sz="2000" b="1" i="0" u="none" strike="noStrike" cap="none" normalizeH="0" baseline="0" dirty="0">
                <a:ln>
                  <a:noFill/>
                </a:ln>
                <a:solidFill>
                  <a:schemeClr val="tx1"/>
                </a:solidFill>
                <a:effectLst/>
                <a:latin typeface="Arial" panose="020B0604020202020204" pitchFamily="34" charset="0"/>
              </a:rPr>
              <a:t>data cleaning, preprocessing, and feature engineering</a:t>
            </a:r>
            <a:r>
              <a:rPr kumimoji="0" lang="en-US" altLang="en-US" sz="2000" b="0" i="0" u="none" strike="noStrike" cap="none" normalizeH="0" baseline="0" dirty="0">
                <a:ln>
                  <a:noFill/>
                </a:ln>
                <a:solidFill>
                  <a:schemeClr val="tx1"/>
                </a:solidFill>
                <a:effectLst/>
                <a:latin typeface="Arial" panose="020B0604020202020204" pitchFamily="34" charset="0"/>
              </a:rPr>
              <a:t> to prepare high-quality data.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Applies </a:t>
            </a:r>
            <a:r>
              <a:rPr kumimoji="0" lang="en-US" altLang="en-US" sz="2000" b="1" i="0" u="none" strike="noStrike" cap="none" normalizeH="0" baseline="0" dirty="0">
                <a:ln>
                  <a:noFill/>
                </a:ln>
                <a:solidFill>
                  <a:schemeClr val="tx1"/>
                </a:solidFill>
                <a:effectLst/>
                <a:latin typeface="Arial" panose="020B0604020202020204" pitchFamily="34" charset="0"/>
              </a:rPr>
              <a:t>Machine Learning</a:t>
            </a:r>
            <a:r>
              <a:rPr kumimoji="0" lang="en-US" altLang="en-US" sz="2000" b="0" i="0" u="none" strike="noStrike" cap="none" normalizeH="0" baseline="0" dirty="0">
                <a:ln>
                  <a:noFill/>
                </a:ln>
                <a:solidFill>
                  <a:schemeClr val="tx1"/>
                </a:solidFill>
                <a:effectLst/>
                <a:latin typeface="Arial" panose="020B0604020202020204" pitchFamily="34" charset="0"/>
              </a:rPr>
              <a:t> to generate an </a:t>
            </a:r>
            <a:r>
              <a:rPr kumimoji="0" lang="en-US" altLang="en-US" sz="2000" b="1" i="0" u="none" strike="noStrike" cap="none" normalizeH="0" baseline="0" dirty="0">
                <a:ln>
                  <a:noFill/>
                </a:ln>
                <a:solidFill>
                  <a:schemeClr val="tx1"/>
                </a:solidFill>
                <a:effectLst/>
                <a:latin typeface="Arial" panose="020B0604020202020204" pitchFamily="34" charset="0"/>
              </a:rPr>
              <a:t>Investment Score</a:t>
            </a:r>
            <a:r>
              <a:rPr kumimoji="0" lang="en-US" altLang="en-US" sz="2000" b="0" i="0" u="none" strike="noStrike" cap="none" normalizeH="0" baseline="0" dirty="0">
                <a:ln>
                  <a:noFill/>
                </a:ln>
                <a:solidFill>
                  <a:schemeClr val="tx1"/>
                </a:solidFill>
                <a:effectLst/>
                <a:latin typeface="Arial" panose="020B0604020202020204" pitchFamily="34" charset="0"/>
              </a:rPr>
              <a:t> and classify stocks as </a:t>
            </a:r>
            <a:r>
              <a:rPr kumimoji="0" lang="en-US" altLang="en-US" sz="2000" b="1" i="0" u="none" strike="noStrike" cap="none" normalizeH="0" baseline="0" dirty="0">
                <a:ln>
                  <a:noFill/>
                </a:ln>
                <a:solidFill>
                  <a:schemeClr val="tx1"/>
                </a:solidFill>
                <a:effectLst/>
                <a:latin typeface="Arial" panose="020B0604020202020204" pitchFamily="34" charset="0"/>
              </a:rPr>
              <a:t>Buy, Hold, or Sell</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Integrates </a:t>
            </a:r>
            <a:r>
              <a:rPr kumimoji="0" lang="en-US" altLang="en-US" sz="2000" b="1" i="0" u="none" strike="noStrike" cap="none" normalizeH="0" baseline="0" dirty="0">
                <a:ln>
                  <a:noFill/>
                </a:ln>
                <a:solidFill>
                  <a:schemeClr val="tx1"/>
                </a:solidFill>
                <a:effectLst/>
                <a:latin typeface="Arial" panose="020B0604020202020204" pitchFamily="34" charset="0"/>
              </a:rPr>
              <a:t>Explainable AI (XAI)</a:t>
            </a:r>
            <a:r>
              <a:rPr kumimoji="0" lang="en-US" altLang="en-US" sz="2000" b="0" i="0" u="none" strike="noStrike" cap="none" normalizeH="0" baseline="0" dirty="0">
                <a:ln>
                  <a:noFill/>
                </a:ln>
                <a:solidFill>
                  <a:schemeClr val="tx1"/>
                </a:solidFill>
                <a:effectLst/>
                <a:latin typeface="Arial" panose="020B0604020202020204" pitchFamily="34" charset="0"/>
              </a:rPr>
              <a:t> to provide transparent reasons behind every recommendation.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Offers an </a:t>
            </a:r>
            <a:r>
              <a:rPr kumimoji="0" lang="en-US" altLang="en-US" sz="2000" b="1" i="0" u="none" strike="noStrike" cap="none" normalizeH="0" baseline="0" dirty="0">
                <a:ln>
                  <a:noFill/>
                </a:ln>
                <a:solidFill>
                  <a:schemeClr val="tx1"/>
                </a:solidFill>
                <a:effectLst/>
                <a:latin typeface="Arial" panose="020B0604020202020204" pitchFamily="34" charset="0"/>
              </a:rPr>
              <a:t>interactive dashboard</a:t>
            </a:r>
            <a:r>
              <a:rPr kumimoji="0" lang="en-US" altLang="en-US" sz="2000" b="0" i="0" u="none" strike="noStrike" cap="none" normalizeH="0" baseline="0" dirty="0">
                <a:ln>
                  <a:noFill/>
                </a:ln>
                <a:solidFill>
                  <a:schemeClr val="tx1"/>
                </a:solidFill>
                <a:effectLst/>
                <a:latin typeface="Arial" panose="020B0604020202020204" pitchFamily="34" charset="0"/>
              </a:rPr>
              <a:t> for company comparison, portfolio analysis, and market insights.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Helps investors make </a:t>
            </a:r>
            <a:r>
              <a:rPr kumimoji="0" lang="en-US" altLang="en-US" sz="2000" b="1" i="0" u="none" strike="noStrike" cap="none" normalizeH="0" baseline="0" dirty="0">
                <a:ln>
                  <a:noFill/>
                </a:ln>
                <a:solidFill>
                  <a:schemeClr val="tx1"/>
                </a:solidFill>
                <a:effectLst/>
                <a:latin typeface="Arial" panose="020B0604020202020204" pitchFamily="34" charset="0"/>
              </a:rPr>
              <a:t>accurate, data-driven, and informed investment decisions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Reduces investment uncertainty by combining </a:t>
            </a:r>
            <a:r>
              <a:rPr kumimoji="0" lang="en-US" altLang="en-US" sz="2000" b="1" i="0" u="none" strike="noStrike" cap="none" normalizeH="0" baseline="0" dirty="0">
                <a:ln>
                  <a:noFill/>
                </a:ln>
                <a:solidFill>
                  <a:schemeClr val="tx1"/>
                </a:solidFill>
                <a:effectLst/>
                <a:latin typeface="Arial" panose="020B0604020202020204" pitchFamily="34" charset="0"/>
              </a:rPr>
              <a:t>multiple analytical factors into a single intelligent platform</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23068"/>
            <a:ext cx="10515600" cy="708932"/>
          </a:xfrm>
        </p:spPr>
        <p:txBody>
          <a:bodyPr>
            <a:normAutofit/>
          </a:bodyPr>
          <a:lstStyle/>
          <a:p>
            <a:pPr algn="ctr"/>
            <a:r>
              <a:rPr lang="en-US" altLang="en-US" sz="3200" b="1" dirty="0">
                <a:solidFill>
                  <a:srgbClr val="7030A0"/>
                </a:solidFill>
                <a:latin typeface="Times New Roman" panose="02020603050405020304" pitchFamily="18" charset="0"/>
                <a:cs typeface="Times New Roman" panose="02020603050405020304" pitchFamily="18" charset="0"/>
              </a:rPr>
              <a:t>CONCEPT &amp; SCOPE OF SOLUTION</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F913B45-0786-488C-9F83-DB626DC1C02A}" type="slidenum">
              <a:rPr lang="en-IN" smtClean="0"/>
              <a:t>4</a:t>
            </a:fld>
            <a:endParaRPr lang="en-IN"/>
          </a:p>
        </p:txBody>
      </p:sp>
      <p:sp>
        <p:nvSpPr>
          <p:cNvPr id="7" name="Date Placeholder 5">
            <a:extLst>
              <a:ext uri="{FF2B5EF4-FFF2-40B4-BE49-F238E27FC236}">
                <a16:creationId xmlns:a16="http://schemas.microsoft.com/office/drawing/2014/main" id="{D8CB3DBE-8512-4E65-98CB-D72E57238EE8}"/>
              </a:ext>
            </a:extLst>
          </p:cNvPr>
          <p:cNvSpPr>
            <a:spLocks noGrp="1"/>
          </p:cNvSpPr>
          <p:nvPr>
            <p:ph type="dt" sz="half" idx="10"/>
          </p:nvPr>
        </p:nvSpPr>
        <p:spPr>
          <a:xfrm>
            <a:off x="838200" y="6356350"/>
            <a:ext cx="2743200" cy="365125"/>
          </a:xfrm>
        </p:spPr>
        <p:txBody>
          <a:bodyPr/>
          <a:lstStyle/>
          <a:p>
            <a:r>
              <a:rPr lang="en-IN" dirty="0"/>
              <a:t>13-07-2026</a:t>
            </a:r>
          </a:p>
          <a:p>
            <a:endParaRPr lang="en-IN" dirty="0"/>
          </a:p>
        </p:txBody>
      </p:sp>
      <p:graphicFrame>
        <p:nvGraphicFramePr>
          <p:cNvPr id="14" name="Table 13">
            <a:extLst>
              <a:ext uri="{FF2B5EF4-FFF2-40B4-BE49-F238E27FC236}">
                <a16:creationId xmlns:a16="http://schemas.microsoft.com/office/drawing/2014/main" id="{21496C40-DA7D-4191-BF66-40A0EB069A99}"/>
              </a:ext>
            </a:extLst>
          </p:cNvPr>
          <p:cNvGraphicFramePr>
            <a:graphicFrameLocks noGrp="1"/>
          </p:cNvGraphicFramePr>
          <p:nvPr>
            <p:extLst>
              <p:ext uri="{D42A27DB-BD31-4B8C-83A1-F6EECF244321}">
                <p14:modId xmlns:p14="http://schemas.microsoft.com/office/powerpoint/2010/main" val="336515307"/>
              </p:ext>
            </p:extLst>
          </p:nvPr>
        </p:nvGraphicFramePr>
        <p:xfrm>
          <a:off x="838200" y="1584375"/>
          <a:ext cx="10515600" cy="4419600"/>
        </p:xfrm>
        <a:graphic>
          <a:graphicData uri="http://schemas.openxmlformats.org/drawingml/2006/table">
            <a:tbl>
              <a:tblPr/>
              <a:tblGrid>
                <a:gridCol w="5257800">
                  <a:extLst>
                    <a:ext uri="{9D8B030D-6E8A-4147-A177-3AD203B41FA5}">
                      <a16:colId xmlns:a16="http://schemas.microsoft.com/office/drawing/2014/main" val="2652213574"/>
                    </a:ext>
                  </a:extLst>
                </a:gridCol>
                <a:gridCol w="5257800">
                  <a:extLst>
                    <a:ext uri="{9D8B030D-6E8A-4147-A177-3AD203B41FA5}">
                      <a16:colId xmlns:a16="http://schemas.microsoft.com/office/drawing/2014/main" val="4274984067"/>
                    </a:ext>
                  </a:extLst>
                </a:gridCol>
              </a:tblGrid>
              <a:tr h="0">
                <a:tc>
                  <a:txBody>
                    <a:bodyPr/>
                    <a:lstStyle/>
                    <a:p>
                      <a:r>
                        <a:rPr lang="en-IN" sz="2800" b="1" dirty="0"/>
                        <a:t>Concept</a:t>
                      </a:r>
                      <a:endParaRPr lang="en-IN" sz="2800" dirty="0"/>
                    </a:p>
                  </a:txBody>
                  <a:tcPr anchor="ctr">
                    <a:lnL>
                      <a:noFill/>
                    </a:lnL>
                    <a:lnR>
                      <a:noFill/>
                    </a:lnR>
                    <a:lnT>
                      <a:noFill/>
                    </a:lnT>
                    <a:lnB>
                      <a:noFill/>
                    </a:lnB>
                  </a:tcPr>
                </a:tc>
                <a:tc>
                  <a:txBody>
                    <a:bodyPr/>
                    <a:lstStyle/>
                    <a:p>
                      <a:r>
                        <a:rPr lang="en-IN" sz="2800" b="1" dirty="0"/>
                        <a:t>Scope of Solution</a:t>
                      </a:r>
                      <a:endParaRPr lang="en-IN" sz="2800" dirty="0"/>
                    </a:p>
                  </a:txBody>
                  <a:tcPr anchor="ctr">
                    <a:lnL>
                      <a:noFill/>
                    </a:lnL>
                    <a:lnR>
                      <a:noFill/>
                    </a:lnR>
                    <a:lnT>
                      <a:noFill/>
                    </a:lnT>
                    <a:lnB>
                      <a:noFill/>
                    </a:lnB>
                  </a:tcPr>
                </a:tc>
                <a:extLst>
                  <a:ext uri="{0D108BD9-81ED-4DB2-BD59-A6C34878D82A}">
                    <a16:rowId xmlns:a16="http://schemas.microsoft.com/office/drawing/2014/main" val="2719282992"/>
                  </a:ext>
                </a:extLst>
              </a:tr>
              <a:tr h="0">
                <a:tc>
                  <a:txBody>
                    <a:bodyPr/>
                    <a:lstStyle/>
                    <a:p>
                      <a:pPr marL="342900" indent="-342900" algn="l">
                        <a:buFont typeface="Wingdings" panose="05000000000000000000" pitchFamily="2" charset="2"/>
                        <a:buChar char="§"/>
                      </a:pPr>
                      <a:r>
                        <a:rPr lang="en-US" sz="2000"/>
                        <a:t>AI-powered investment decision support system</a:t>
                      </a:r>
                    </a:p>
                  </a:txBody>
                  <a:tcPr anchor="ctr">
                    <a:lnL>
                      <a:noFill/>
                    </a:lnL>
                    <a:lnR>
                      <a:noFill/>
                    </a:lnR>
                    <a:lnT>
                      <a:noFill/>
                    </a:lnT>
                    <a:lnB>
                      <a:noFill/>
                    </a:lnB>
                  </a:tcPr>
                </a:tc>
                <a:tc>
                  <a:txBody>
                    <a:bodyPr/>
                    <a:lstStyle/>
                    <a:p>
                      <a:pPr marL="342900" indent="-342900" algn="l">
                        <a:buFont typeface="Wingdings" panose="05000000000000000000" pitchFamily="2" charset="2"/>
                        <a:buChar char="§"/>
                      </a:pPr>
                      <a:r>
                        <a:rPr lang="en-US" sz="2000"/>
                        <a:t>Collect multi-source financial and market data</a:t>
                      </a:r>
                    </a:p>
                  </a:txBody>
                  <a:tcPr anchor="ctr">
                    <a:lnL>
                      <a:noFill/>
                    </a:lnL>
                    <a:lnR>
                      <a:noFill/>
                    </a:lnR>
                    <a:lnT>
                      <a:noFill/>
                    </a:lnT>
                    <a:lnB>
                      <a:noFill/>
                    </a:lnB>
                  </a:tcPr>
                </a:tc>
                <a:extLst>
                  <a:ext uri="{0D108BD9-81ED-4DB2-BD59-A6C34878D82A}">
                    <a16:rowId xmlns:a16="http://schemas.microsoft.com/office/drawing/2014/main" val="2222589674"/>
                  </a:ext>
                </a:extLst>
              </a:tr>
              <a:tr h="0">
                <a:tc>
                  <a:txBody>
                    <a:bodyPr/>
                    <a:lstStyle/>
                    <a:p>
                      <a:pPr marL="342900" indent="-342900" algn="l">
                        <a:buFont typeface="Wingdings" panose="05000000000000000000" pitchFamily="2" charset="2"/>
                        <a:buChar char="§"/>
                      </a:pPr>
                      <a:r>
                        <a:rPr lang="en-IN" sz="2000"/>
                        <a:t>Multi-factor stock evaluation</a:t>
                      </a:r>
                    </a:p>
                  </a:txBody>
                  <a:tcPr anchor="ctr">
                    <a:lnL>
                      <a:noFill/>
                    </a:lnL>
                    <a:lnR>
                      <a:noFill/>
                    </a:lnR>
                    <a:lnT>
                      <a:noFill/>
                    </a:lnT>
                    <a:lnB>
                      <a:noFill/>
                    </a:lnB>
                  </a:tcPr>
                </a:tc>
                <a:tc>
                  <a:txBody>
                    <a:bodyPr/>
                    <a:lstStyle/>
                    <a:p>
                      <a:pPr marL="342900" indent="-342900" algn="l">
                        <a:buFont typeface="Wingdings" panose="05000000000000000000" pitchFamily="2" charset="2"/>
                        <a:buChar char="§"/>
                      </a:pPr>
                      <a:r>
                        <a:rPr lang="en-US" sz="2000"/>
                        <a:t>Perform data preprocessing and feature engineering</a:t>
                      </a:r>
                    </a:p>
                  </a:txBody>
                  <a:tcPr anchor="ctr">
                    <a:lnL>
                      <a:noFill/>
                    </a:lnL>
                    <a:lnR>
                      <a:noFill/>
                    </a:lnR>
                    <a:lnT>
                      <a:noFill/>
                    </a:lnT>
                    <a:lnB>
                      <a:noFill/>
                    </a:lnB>
                  </a:tcPr>
                </a:tc>
                <a:extLst>
                  <a:ext uri="{0D108BD9-81ED-4DB2-BD59-A6C34878D82A}">
                    <a16:rowId xmlns:a16="http://schemas.microsoft.com/office/drawing/2014/main" val="1199115745"/>
                  </a:ext>
                </a:extLst>
              </a:tr>
              <a:tr h="0">
                <a:tc>
                  <a:txBody>
                    <a:bodyPr/>
                    <a:lstStyle/>
                    <a:p>
                      <a:pPr marL="342900" indent="-342900" algn="l">
                        <a:buFont typeface="Wingdings" panose="05000000000000000000" pitchFamily="2" charset="2"/>
                        <a:buChar char="§"/>
                      </a:pPr>
                      <a:r>
                        <a:rPr lang="en-IN" sz="2000"/>
                        <a:t>Machine Learning-based investment analysis</a:t>
                      </a:r>
                    </a:p>
                  </a:txBody>
                  <a:tcPr anchor="ctr">
                    <a:lnL>
                      <a:noFill/>
                    </a:lnL>
                    <a:lnR>
                      <a:noFill/>
                    </a:lnR>
                    <a:lnT>
                      <a:noFill/>
                    </a:lnT>
                    <a:lnB>
                      <a:noFill/>
                    </a:lnB>
                  </a:tcPr>
                </a:tc>
                <a:tc>
                  <a:txBody>
                    <a:bodyPr/>
                    <a:lstStyle/>
                    <a:p>
                      <a:pPr marL="342900" indent="-342900" algn="l">
                        <a:buFont typeface="Wingdings" panose="05000000000000000000" pitchFamily="2" charset="2"/>
                        <a:buChar char="§"/>
                      </a:pPr>
                      <a:r>
                        <a:rPr lang="en-US" sz="2000"/>
                        <a:t>Generate Investment Score and Buy/Hold/Sell recommendation</a:t>
                      </a:r>
                    </a:p>
                  </a:txBody>
                  <a:tcPr anchor="ctr">
                    <a:lnL>
                      <a:noFill/>
                    </a:lnL>
                    <a:lnR>
                      <a:noFill/>
                    </a:lnR>
                    <a:lnT>
                      <a:noFill/>
                    </a:lnT>
                    <a:lnB>
                      <a:noFill/>
                    </a:lnB>
                  </a:tcPr>
                </a:tc>
                <a:extLst>
                  <a:ext uri="{0D108BD9-81ED-4DB2-BD59-A6C34878D82A}">
                    <a16:rowId xmlns:a16="http://schemas.microsoft.com/office/drawing/2014/main" val="89838833"/>
                  </a:ext>
                </a:extLst>
              </a:tr>
              <a:tr h="0">
                <a:tc>
                  <a:txBody>
                    <a:bodyPr/>
                    <a:lstStyle/>
                    <a:p>
                      <a:pPr marL="342900" indent="-342900" algn="l">
                        <a:buFont typeface="Wingdings" panose="05000000000000000000" pitchFamily="2" charset="2"/>
                        <a:buChar char="§"/>
                      </a:pPr>
                      <a:r>
                        <a:rPr lang="en-IN" sz="2000"/>
                        <a:t>Explainable AI for transparent decisions</a:t>
                      </a:r>
                    </a:p>
                  </a:txBody>
                  <a:tcPr anchor="ctr">
                    <a:lnL>
                      <a:noFill/>
                    </a:lnL>
                    <a:lnR>
                      <a:noFill/>
                    </a:lnR>
                    <a:lnT>
                      <a:noFill/>
                    </a:lnT>
                    <a:lnB>
                      <a:noFill/>
                    </a:lnB>
                  </a:tcPr>
                </a:tc>
                <a:tc>
                  <a:txBody>
                    <a:bodyPr/>
                    <a:lstStyle/>
                    <a:p>
                      <a:pPr marL="342900" indent="-342900" algn="l">
                        <a:buFont typeface="Wingdings" panose="05000000000000000000" pitchFamily="2" charset="2"/>
                        <a:buChar char="§"/>
                      </a:pPr>
                      <a:r>
                        <a:rPr lang="en-IN" sz="2000"/>
                        <a:t>Provide reason-based investment insights</a:t>
                      </a:r>
                    </a:p>
                  </a:txBody>
                  <a:tcPr anchor="ctr">
                    <a:lnL>
                      <a:noFill/>
                    </a:lnL>
                    <a:lnR>
                      <a:noFill/>
                    </a:lnR>
                    <a:lnT>
                      <a:noFill/>
                    </a:lnT>
                    <a:lnB>
                      <a:noFill/>
                    </a:lnB>
                  </a:tcPr>
                </a:tc>
                <a:extLst>
                  <a:ext uri="{0D108BD9-81ED-4DB2-BD59-A6C34878D82A}">
                    <a16:rowId xmlns:a16="http://schemas.microsoft.com/office/drawing/2014/main" val="4140453822"/>
                  </a:ext>
                </a:extLst>
              </a:tr>
              <a:tr h="0">
                <a:tc>
                  <a:txBody>
                    <a:bodyPr/>
                    <a:lstStyle/>
                    <a:p>
                      <a:pPr marL="342900" indent="-342900" algn="l">
                        <a:buFont typeface="Wingdings" panose="05000000000000000000" pitchFamily="2" charset="2"/>
                        <a:buChar char="§"/>
                      </a:pPr>
                      <a:r>
                        <a:rPr lang="en-IN" sz="2000"/>
                        <a:t>Data-driven investment intelligence</a:t>
                      </a:r>
                    </a:p>
                  </a:txBody>
                  <a:tcPr anchor="ctr">
                    <a:lnL>
                      <a:noFill/>
                    </a:lnL>
                    <a:lnR>
                      <a:noFill/>
                    </a:lnR>
                    <a:lnT>
                      <a:noFill/>
                    </a:lnT>
                    <a:lnB>
                      <a:noFill/>
                    </a:lnB>
                  </a:tcPr>
                </a:tc>
                <a:tc>
                  <a:txBody>
                    <a:bodyPr/>
                    <a:lstStyle/>
                    <a:p>
                      <a:pPr marL="342900" indent="-342900" algn="l">
                        <a:buFont typeface="Wingdings" panose="05000000000000000000" pitchFamily="2" charset="2"/>
                        <a:buChar char="§"/>
                      </a:pPr>
                      <a:r>
                        <a:rPr lang="en-US" sz="2000"/>
                        <a:t>Compare companies and analyze portfolio risk</a:t>
                      </a:r>
                    </a:p>
                  </a:txBody>
                  <a:tcPr anchor="ctr">
                    <a:lnL>
                      <a:noFill/>
                    </a:lnL>
                    <a:lnR>
                      <a:noFill/>
                    </a:lnR>
                    <a:lnT>
                      <a:noFill/>
                    </a:lnT>
                    <a:lnB>
                      <a:noFill/>
                    </a:lnB>
                  </a:tcPr>
                </a:tc>
                <a:extLst>
                  <a:ext uri="{0D108BD9-81ED-4DB2-BD59-A6C34878D82A}">
                    <a16:rowId xmlns:a16="http://schemas.microsoft.com/office/drawing/2014/main" val="819454661"/>
                  </a:ext>
                </a:extLst>
              </a:tr>
              <a:tr h="0">
                <a:tc>
                  <a:txBody>
                    <a:bodyPr/>
                    <a:lstStyle/>
                    <a:p>
                      <a:pPr marL="342900" indent="-342900" algn="l">
                        <a:buFont typeface="Wingdings" panose="05000000000000000000" pitchFamily="2" charset="2"/>
                        <a:buChar char="§"/>
                      </a:pPr>
                      <a:r>
                        <a:rPr lang="en-IN" sz="2000"/>
                        <a:t>Interactive analytics platform</a:t>
                      </a:r>
                    </a:p>
                  </a:txBody>
                  <a:tcPr anchor="ctr">
                    <a:lnL>
                      <a:noFill/>
                    </a:lnL>
                    <a:lnR>
                      <a:noFill/>
                    </a:lnR>
                    <a:lnT>
                      <a:noFill/>
                    </a:lnT>
                    <a:lnB>
                      <a:noFill/>
                    </a:lnB>
                  </a:tcPr>
                </a:tc>
                <a:tc>
                  <a:txBody>
                    <a:bodyPr/>
                    <a:lstStyle/>
                    <a:p>
                      <a:pPr marL="342900" indent="-342900" algn="l">
                        <a:buFont typeface="Wingdings" panose="05000000000000000000" pitchFamily="2" charset="2"/>
                        <a:buChar char="§"/>
                      </a:pPr>
                      <a:r>
                        <a:rPr lang="en-US" sz="2000" dirty="0"/>
                        <a:t>Visualize trends through an intelligent dashboard</a:t>
                      </a:r>
                    </a:p>
                  </a:txBody>
                  <a:tcPr anchor="ctr">
                    <a:lnL>
                      <a:noFill/>
                    </a:lnL>
                    <a:lnR>
                      <a:noFill/>
                    </a:lnR>
                    <a:lnT>
                      <a:noFill/>
                    </a:lnT>
                    <a:lnB>
                      <a:noFill/>
                    </a:lnB>
                  </a:tcPr>
                </a:tc>
                <a:extLst>
                  <a:ext uri="{0D108BD9-81ED-4DB2-BD59-A6C34878D82A}">
                    <a16:rowId xmlns:a16="http://schemas.microsoft.com/office/drawing/2014/main" val="29717852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7237" y="-309433"/>
            <a:ext cx="4648200" cy="891915"/>
          </a:xfrm>
        </p:spPr>
        <p:txBody>
          <a:bodyPr>
            <a:normAutofit/>
          </a:bodyPr>
          <a:lstStyle/>
          <a:p>
            <a:pPr algn="ctr"/>
            <a:r>
              <a:rPr lang="en-US" altLang="en-US" sz="2400" b="1" dirty="0">
                <a:solidFill>
                  <a:srgbClr val="7030A0"/>
                </a:solidFill>
                <a:latin typeface="Times New Roman" panose="02020603050405020304" pitchFamily="18" charset="0"/>
                <a:cs typeface="Times New Roman" panose="02020603050405020304" pitchFamily="18" charset="0"/>
              </a:rPr>
              <a:t>PROPOSED METHOD</a:t>
            </a:r>
            <a:endParaRPr lang="en-IN" sz="24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F913B45-0786-488C-9F83-DB626DC1C02A}" type="slidenum">
              <a:rPr lang="en-IN" smtClean="0"/>
              <a:t>5</a:t>
            </a:fld>
            <a:endParaRPr lang="en-IN"/>
          </a:p>
        </p:txBody>
      </p:sp>
      <p:sp>
        <p:nvSpPr>
          <p:cNvPr id="8" name="TextBox 7"/>
          <p:cNvSpPr txBox="1"/>
          <p:nvPr/>
        </p:nvSpPr>
        <p:spPr>
          <a:xfrm>
            <a:off x="4634345" y="5918888"/>
            <a:ext cx="2266517" cy="369332"/>
          </a:xfrm>
          <a:prstGeom prst="rect">
            <a:avLst/>
          </a:prstGeom>
          <a:noFill/>
        </p:spPr>
        <p:txBody>
          <a:bodyPr wrap="square">
            <a:spAutoFit/>
          </a:bodyPr>
          <a:lstStyle/>
          <a:p>
            <a:r>
              <a:rPr lang="en-US" altLang="en-US" sz="1800" b="1" dirty="0">
                <a:latin typeface="Times New Roman" panose="02020603050405020304" pitchFamily="18" charset="0"/>
                <a:cs typeface="Times New Roman" panose="02020603050405020304" pitchFamily="18" charset="0"/>
              </a:rPr>
              <a:t>Work flow diagram</a:t>
            </a:r>
            <a:endParaRPr lang="en-IN" dirty="0"/>
          </a:p>
        </p:txBody>
      </p:sp>
      <p:sp>
        <p:nvSpPr>
          <p:cNvPr id="7" name="Date Placeholder 5">
            <a:extLst>
              <a:ext uri="{FF2B5EF4-FFF2-40B4-BE49-F238E27FC236}">
                <a16:creationId xmlns:a16="http://schemas.microsoft.com/office/drawing/2014/main" id="{84C3E29C-4620-404C-9082-6E09D31186B2}"/>
              </a:ext>
            </a:extLst>
          </p:cNvPr>
          <p:cNvSpPr>
            <a:spLocks noGrp="1"/>
          </p:cNvSpPr>
          <p:nvPr>
            <p:ph type="dt" sz="half" idx="10"/>
          </p:nvPr>
        </p:nvSpPr>
        <p:spPr>
          <a:xfrm>
            <a:off x="838200" y="6356350"/>
            <a:ext cx="2743200" cy="365125"/>
          </a:xfrm>
        </p:spPr>
        <p:txBody>
          <a:bodyPr/>
          <a:lstStyle/>
          <a:p>
            <a:r>
              <a:rPr lang="en-IN" dirty="0"/>
              <a:t>13-07-2026</a:t>
            </a:r>
          </a:p>
          <a:p>
            <a:endParaRPr lang="en-IN" dirty="0"/>
          </a:p>
        </p:txBody>
      </p:sp>
      <p:sp>
        <p:nvSpPr>
          <p:cNvPr id="13" name="AutoShape 4" descr="Generated image: Multi-factor investment platform workflow diagram">
            <a:extLst>
              <a:ext uri="{FF2B5EF4-FFF2-40B4-BE49-F238E27FC236}">
                <a16:creationId xmlns:a16="http://schemas.microsoft.com/office/drawing/2014/main" id="{8DB540D0-5FAD-4761-BDA9-039BEA17DBA4}"/>
              </a:ext>
            </a:extLst>
          </p:cNvPr>
          <p:cNvSpPr>
            <a:spLocks noChangeAspect="1" noChangeArrowheads="1"/>
          </p:cNvSpPr>
          <p:nvPr/>
        </p:nvSpPr>
        <p:spPr bwMode="auto">
          <a:xfrm>
            <a:off x="3175" y="0"/>
            <a:ext cx="1218565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 name="Content Placeholder 18">
            <a:extLst>
              <a:ext uri="{FF2B5EF4-FFF2-40B4-BE49-F238E27FC236}">
                <a16:creationId xmlns:a16="http://schemas.microsoft.com/office/drawing/2014/main" id="{2A08842D-C1D1-45D5-AB8A-F064A61965E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498" t="453" r="1577" b="1907"/>
          <a:stretch/>
        </p:blipFill>
        <p:spPr>
          <a:xfrm>
            <a:off x="838200" y="257176"/>
            <a:ext cx="10348913" cy="634365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687" y="283267"/>
            <a:ext cx="10515600" cy="1081290"/>
          </a:xfrm>
        </p:spPr>
        <p:txBody>
          <a:bodyPr>
            <a:normAutofit/>
          </a:bodyPr>
          <a:lstStyle/>
          <a:p>
            <a:pPr algn="ctr"/>
            <a:r>
              <a:rPr lang="en-IN" altLang="en-US" sz="3200" b="1" dirty="0">
                <a:solidFill>
                  <a:srgbClr val="7030A0"/>
                </a:solidFill>
                <a:latin typeface="Times New Roman" panose="02020603050405020304" pitchFamily="18" charset="0"/>
                <a:cs typeface="Times New Roman" panose="02020603050405020304" pitchFamily="18" charset="0"/>
              </a:rPr>
              <a:t>TECHNOLOGY USED</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F913B45-0786-488C-9F83-DB626DC1C02A}" type="slidenum">
              <a:rPr lang="en-IN" smtClean="0"/>
              <a:t>6</a:t>
            </a:fld>
            <a:endParaRPr lang="en-IN"/>
          </a:p>
        </p:txBody>
      </p:sp>
      <p:sp>
        <p:nvSpPr>
          <p:cNvPr id="7" name="Date Placeholder 5">
            <a:extLst>
              <a:ext uri="{FF2B5EF4-FFF2-40B4-BE49-F238E27FC236}">
                <a16:creationId xmlns:a16="http://schemas.microsoft.com/office/drawing/2014/main" id="{5A83F246-6DD7-41E7-95FE-CB531C02DEE0}"/>
              </a:ext>
            </a:extLst>
          </p:cNvPr>
          <p:cNvSpPr>
            <a:spLocks noGrp="1"/>
          </p:cNvSpPr>
          <p:nvPr>
            <p:ph type="dt" sz="half" idx="10"/>
          </p:nvPr>
        </p:nvSpPr>
        <p:spPr>
          <a:xfrm>
            <a:off x="838200" y="6356350"/>
            <a:ext cx="2743200" cy="365125"/>
          </a:xfrm>
        </p:spPr>
        <p:txBody>
          <a:bodyPr/>
          <a:lstStyle/>
          <a:p>
            <a:r>
              <a:rPr lang="en-IN" dirty="0"/>
              <a:t>13-07-2026</a:t>
            </a:r>
          </a:p>
          <a:p>
            <a:endParaRPr lang="en-IN" dirty="0"/>
          </a:p>
        </p:txBody>
      </p:sp>
      <p:graphicFrame>
        <p:nvGraphicFramePr>
          <p:cNvPr id="3" name="Table 2">
            <a:extLst>
              <a:ext uri="{FF2B5EF4-FFF2-40B4-BE49-F238E27FC236}">
                <a16:creationId xmlns:a16="http://schemas.microsoft.com/office/drawing/2014/main" id="{900283FB-F0CF-41DE-839E-14186A32E7CA}"/>
              </a:ext>
            </a:extLst>
          </p:cNvPr>
          <p:cNvGraphicFramePr>
            <a:graphicFrameLocks noGrp="1"/>
          </p:cNvGraphicFramePr>
          <p:nvPr>
            <p:extLst>
              <p:ext uri="{D42A27DB-BD31-4B8C-83A1-F6EECF244321}">
                <p14:modId xmlns:p14="http://schemas.microsoft.com/office/powerpoint/2010/main" val="4192505990"/>
              </p:ext>
            </p:extLst>
          </p:nvPr>
        </p:nvGraphicFramePr>
        <p:xfrm>
          <a:off x="2505075" y="1417320"/>
          <a:ext cx="8110538" cy="4023360"/>
        </p:xfrm>
        <a:graphic>
          <a:graphicData uri="http://schemas.openxmlformats.org/drawingml/2006/table">
            <a:tbl>
              <a:tblPr/>
              <a:tblGrid>
                <a:gridCol w="4055269">
                  <a:extLst>
                    <a:ext uri="{9D8B030D-6E8A-4147-A177-3AD203B41FA5}">
                      <a16:colId xmlns:a16="http://schemas.microsoft.com/office/drawing/2014/main" val="670491944"/>
                    </a:ext>
                  </a:extLst>
                </a:gridCol>
                <a:gridCol w="4055269">
                  <a:extLst>
                    <a:ext uri="{9D8B030D-6E8A-4147-A177-3AD203B41FA5}">
                      <a16:colId xmlns:a16="http://schemas.microsoft.com/office/drawing/2014/main" val="3354646671"/>
                    </a:ext>
                  </a:extLst>
                </a:gridCol>
              </a:tblGrid>
              <a:tr h="0">
                <a:tc>
                  <a:txBody>
                    <a:bodyPr/>
                    <a:lstStyle/>
                    <a:p>
                      <a:r>
                        <a:rPr lang="en-IN" b="1" dirty="0"/>
                        <a:t>Category</a:t>
                      </a:r>
                      <a:endParaRPr lang="en-IN" dirty="0"/>
                    </a:p>
                  </a:txBody>
                  <a:tcPr anchor="ctr">
                    <a:lnL>
                      <a:noFill/>
                    </a:lnL>
                    <a:lnR>
                      <a:noFill/>
                    </a:lnR>
                    <a:lnT>
                      <a:noFill/>
                    </a:lnT>
                    <a:lnB>
                      <a:noFill/>
                    </a:lnB>
                  </a:tcPr>
                </a:tc>
                <a:tc>
                  <a:txBody>
                    <a:bodyPr/>
                    <a:lstStyle/>
                    <a:p>
                      <a:r>
                        <a:rPr lang="en-IN" b="1"/>
                        <a:t>Technology</a:t>
                      </a:r>
                      <a:endParaRPr lang="en-IN"/>
                    </a:p>
                  </a:txBody>
                  <a:tcPr anchor="ctr">
                    <a:lnL>
                      <a:noFill/>
                    </a:lnL>
                    <a:lnR>
                      <a:noFill/>
                    </a:lnR>
                    <a:lnT>
                      <a:noFill/>
                    </a:lnT>
                    <a:lnB>
                      <a:noFill/>
                    </a:lnB>
                  </a:tcPr>
                </a:tc>
                <a:extLst>
                  <a:ext uri="{0D108BD9-81ED-4DB2-BD59-A6C34878D82A}">
                    <a16:rowId xmlns:a16="http://schemas.microsoft.com/office/drawing/2014/main" val="2557765348"/>
                  </a:ext>
                </a:extLst>
              </a:tr>
              <a:tr h="0">
                <a:tc>
                  <a:txBody>
                    <a:bodyPr/>
                    <a:lstStyle/>
                    <a:p>
                      <a:r>
                        <a:rPr lang="en-IN" dirty="0"/>
                        <a:t>Programming Language</a:t>
                      </a:r>
                    </a:p>
                  </a:txBody>
                  <a:tcPr anchor="ctr">
                    <a:lnL>
                      <a:noFill/>
                    </a:lnL>
                    <a:lnR>
                      <a:noFill/>
                    </a:lnR>
                    <a:lnT>
                      <a:noFill/>
                    </a:lnT>
                    <a:lnB>
                      <a:noFill/>
                    </a:lnB>
                  </a:tcPr>
                </a:tc>
                <a:tc>
                  <a:txBody>
                    <a:bodyPr/>
                    <a:lstStyle/>
                    <a:p>
                      <a:r>
                        <a:rPr lang="en-IN"/>
                        <a:t>Python</a:t>
                      </a:r>
                    </a:p>
                  </a:txBody>
                  <a:tcPr anchor="ctr">
                    <a:lnL>
                      <a:noFill/>
                    </a:lnL>
                    <a:lnR>
                      <a:noFill/>
                    </a:lnR>
                    <a:lnT>
                      <a:noFill/>
                    </a:lnT>
                    <a:lnB>
                      <a:noFill/>
                    </a:lnB>
                  </a:tcPr>
                </a:tc>
                <a:extLst>
                  <a:ext uri="{0D108BD9-81ED-4DB2-BD59-A6C34878D82A}">
                    <a16:rowId xmlns:a16="http://schemas.microsoft.com/office/drawing/2014/main" val="592155168"/>
                  </a:ext>
                </a:extLst>
              </a:tr>
              <a:tr h="0">
                <a:tc>
                  <a:txBody>
                    <a:bodyPr/>
                    <a:lstStyle/>
                    <a:p>
                      <a:r>
                        <a:rPr lang="en-IN" dirty="0"/>
                        <a:t>Frontend</a:t>
                      </a:r>
                    </a:p>
                  </a:txBody>
                  <a:tcPr anchor="ctr">
                    <a:lnL>
                      <a:noFill/>
                    </a:lnL>
                    <a:lnR>
                      <a:noFill/>
                    </a:lnR>
                    <a:lnT>
                      <a:noFill/>
                    </a:lnT>
                    <a:lnB>
                      <a:noFill/>
                    </a:lnB>
                  </a:tcPr>
                </a:tc>
                <a:tc>
                  <a:txBody>
                    <a:bodyPr/>
                    <a:lstStyle/>
                    <a:p>
                      <a:r>
                        <a:rPr lang="en-IN" dirty="0"/>
                        <a:t>React.js, Tailwind CSS</a:t>
                      </a:r>
                    </a:p>
                  </a:txBody>
                  <a:tcPr anchor="ctr">
                    <a:lnL>
                      <a:noFill/>
                    </a:lnL>
                    <a:lnR>
                      <a:noFill/>
                    </a:lnR>
                    <a:lnT>
                      <a:noFill/>
                    </a:lnT>
                    <a:lnB>
                      <a:noFill/>
                    </a:lnB>
                  </a:tcPr>
                </a:tc>
                <a:extLst>
                  <a:ext uri="{0D108BD9-81ED-4DB2-BD59-A6C34878D82A}">
                    <a16:rowId xmlns:a16="http://schemas.microsoft.com/office/drawing/2014/main" val="2818540250"/>
                  </a:ext>
                </a:extLst>
              </a:tr>
              <a:tr h="0">
                <a:tc>
                  <a:txBody>
                    <a:bodyPr/>
                    <a:lstStyle/>
                    <a:p>
                      <a:r>
                        <a:rPr lang="en-IN"/>
                        <a:t>Backend</a:t>
                      </a:r>
                    </a:p>
                  </a:txBody>
                  <a:tcPr anchor="ctr">
                    <a:lnL>
                      <a:noFill/>
                    </a:lnL>
                    <a:lnR>
                      <a:noFill/>
                    </a:lnR>
                    <a:lnT>
                      <a:noFill/>
                    </a:lnT>
                    <a:lnB>
                      <a:noFill/>
                    </a:lnB>
                  </a:tcPr>
                </a:tc>
                <a:tc>
                  <a:txBody>
                    <a:bodyPr/>
                    <a:lstStyle/>
                    <a:p>
                      <a:r>
                        <a:rPr lang="en-IN"/>
                        <a:t>FastAPI</a:t>
                      </a:r>
                    </a:p>
                  </a:txBody>
                  <a:tcPr anchor="ctr">
                    <a:lnL>
                      <a:noFill/>
                    </a:lnL>
                    <a:lnR>
                      <a:noFill/>
                    </a:lnR>
                    <a:lnT>
                      <a:noFill/>
                    </a:lnT>
                    <a:lnB>
                      <a:noFill/>
                    </a:lnB>
                  </a:tcPr>
                </a:tc>
                <a:extLst>
                  <a:ext uri="{0D108BD9-81ED-4DB2-BD59-A6C34878D82A}">
                    <a16:rowId xmlns:a16="http://schemas.microsoft.com/office/drawing/2014/main" val="1723824644"/>
                  </a:ext>
                </a:extLst>
              </a:tr>
              <a:tr h="0">
                <a:tc>
                  <a:txBody>
                    <a:bodyPr/>
                    <a:lstStyle/>
                    <a:p>
                      <a:r>
                        <a:rPr lang="en-IN"/>
                        <a:t>Database</a:t>
                      </a:r>
                    </a:p>
                  </a:txBody>
                  <a:tcPr anchor="ctr">
                    <a:lnL>
                      <a:noFill/>
                    </a:lnL>
                    <a:lnR>
                      <a:noFill/>
                    </a:lnR>
                    <a:lnT>
                      <a:noFill/>
                    </a:lnT>
                    <a:lnB>
                      <a:noFill/>
                    </a:lnB>
                  </a:tcPr>
                </a:tc>
                <a:tc>
                  <a:txBody>
                    <a:bodyPr/>
                    <a:lstStyle/>
                    <a:p>
                      <a:r>
                        <a:rPr lang="en-IN"/>
                        <a:t>PostgreSQL</a:t>
                      </a:r>
                    </a:p>
                  </a:txBody>
                  <a:tcPr anchor="ctr">
                    <a:lnL>
                      <a:noFill/>
                    </a:lnL>
                    <a:lnR>
                      <a:noFill/>
                    </a:lnR>
                    <a:lnT>
                      <a:noFill/>
                    </a:lnT>
                    <a:lnB>
                      <a:noFill/>
                    </a:lnB>
                  </a:tcPr>
                </a:tc>
                <a:extLst>
                  <a:ext uri="{0D108BD9-81ED-4DB2-BD59-A6C34878D82A}">
                    <a16:rowId xmlns:a16="http://schemas.microsoft.com/office/drawing/2014/main" val="3223725787"/>
                  </a:ext>
                </a:extLst>
              </a:tr>
              <a:tr h="0">
                <a:tc>
                  <a:txBody>
                    <a:bodyPr/>
                    <a:lstStyle/>
                    <a:p>
                      <a:r>
                        <a:rPr lang="en-IN"/>
                        <a:t>Data Collection</a:t>
                      </a:r>
                    </a:p>
                  </a:txBody>
                  <a:tcPr anchor="ctr">
                    <a:lnL>
                      <a:noFill/>
                    </a:lnL>
                    <a:lnR>
                      <a:noFill/>
                    </a:lnR>
                    <a:lnT>
                      <a:noFill/>
                    </a:lnT>
                    <a:lnB>
                      <a:noFill/>
                    </a:lnB>
                  </a:tcPr>
                </a:tc>
                <a:tc>
                  <a:txBody>
                    <a:bodyPr/>
                    <a:lstStyle/>
                    <a:p>
                      <a:r>
                        <a:rPr lang="en-IN"/>
                        <a:t>yfinance, Alpha Vantage, NewsAPI</a:t>
                      </a:r>
                    </a:p>
                  </a:txBody>
                  <a:tcPr anchor="ctr">
                    <a:lnL>
                      <a:noFill/>
                    </a:lnL>
                    <a:lnR>
                      <a:noFill/>
                    </a:lnR>
                    <a:lnT>
                      <a:noFill/>
                    </a:lnT>
                    <a:lnB>
                      <a:noFill/>
                    </a:lnB>
                  </a:tcPr>
                </a:tc>
                <a:extLst>
                  <a:ext uri="{0D108BD9-81ED-4DB2-BD59-A6C34878D82A}">
                    <a16:rowId xmlns:a16="http://schemas.microsoft.com/office/drawing/2014/main" val="1386249616"/>
                  </a:ext>
                </a:extLst>
              </a:tr>
              <a:tr h="0">
                <a:tc>
                  <a:txBody>
                    <a:bodyPr/>
                    <a:lstStyle/>
                    <a:p>
                      <a:r>
                        <a:rPr lang="en-IN"/>
                        <a:t>Data Processing</a:t>
                      </a:r>
                    </a:p>
                  </a:txBody>
                  <a:tcPr anchor="ctr">
                    <a:lnL>
                      <a:noFill/>
                    </a:lnL>
                    <a:lnR>
                      <a:noFill/>
                    </a:lnR>
                    <a:lnT>
                      <a:noFill/>
                    </a:lnT>
                    <a:lnB>
                      <a:noFill/>
                    </a:lnB>
                  </a:tcPr>
                </a:tc>
                <a:tc>
                  <a:txBody>
                    <a:bodyPr/>
                    <a:lstStyle/>
                    <a:p>
                      <a:r>
                        <a:rPr lang="en-IN"/>
                        <a:t>Pandas, NumPy</a:t>
                      </a:r>
                    </a:p>
                  </a:txBody>
                  <a:tcPr anchor="ctr">
                    <a:lnL>
                      <a:noFill/>
                    </a:lnL>
                    <a:lnR>
                      <a:noFill/>
                    </a:lnR>
                    <a:lnT>
                      <a:noFill/>
                    </a:lnT>
                    <a:lnB>
                      <a:noFill/>
                    </a:lnB>
                  </a:tcPr>
                </a:tc>
                <a:extLst>
                  <a:ext uri="{0D108BD9-81ED-4DB2-BD59-A6C34878D82A}">
                    <a16:rowId xmlns:a16="http://schemas.microsoft.com/office/drawing/2014/main" val="1749910179"/>
                  </a:ext>
                </a:extLst>
              </a:tr>
              <a:tr h="0">
                <a:tc>
                  <a:txBody>
                    <a:bodyPr/>
                    <a:lstStyle/>
                    <a:p>
                      <a:r>
                        <a:rPr lang="en-IN"/>
                        <a:t>Machine Learning</a:t>
                      </a:r>
                    </a:p>
                  </a:txBody>
                  <a:tcPr anchor="ctr">
                    <a:lnL>
                      <a:noFill/>
                    </a:lnL>
                    <a:lnR>
                      <a:noFill/>
                    </a:lnR>
                    <a:lnT>
                      <a:noFill/>
                    </a:lnT>
                    <a:lnB>
                      <a:noFill/>
                    </a:lnB>
                  </a:tcPr>
                </a:tc>
                <a:tc>
                  <a:txBody>
                    <a:bodyPr/>
                    <a:lstStyle/>
                    <a:p>
                      <a:r>
                        <a:rPr lang="en-IN"/>
                        <a:t>Scikit-learn, XGBoost</a:t>
                      </a:r>
                    </a:p>
                  </a:txBody>
                  <a:tcPr anchor="ctr">
                    <a:lnL>
                      <a:noFill/>
                    </a:lnL>
                    <a:lnR>
                      <a:noFill/>
                    </a:lnR>
                    <a:lnT>
                      <a:noFill/>
                    </a:lnT>
                    <a:lnB>
                      <a:noFill/>
                    </a:lnB>
                  </a:tcPr>
                </a:tc>
                <a:extLst>
                  <a:ext uri="{0D108BD9-81ED-4DB2-BD59-A6C34878D82A}">
                    <a16:rowId xmlns:a16="http://schemas.microsoft.com/office/drawing/2014/main" val="3360095624"/>
                  </a:ext>
                </a:extLst>
              </a:tr>
              <a:tr h="0">
                <a:tc>
                  <a:txBody>
                    <a:bodyPr/>
                    <a:lstStyle/>
                    <a:p>
                      <a:r>
                        <a:rPr lang="en-IN"/>
                        <a:t>Explainable AI</a:t>
                      </a:r>
                    </a:p>
                  </a:txBody>
                  <a:tcPr anchor="ctr">
                    <a:lnL>
                      <a:noFill/>
                    </a:lnL>
                    <a:lnR>
                      <a:noFill/>
                    </a:lnR>
                    <a:lnT>
                      <a:noFill/>
                    </a:lnT>
                    <a:lnB>
                      <a:noFill/>
                    </a:lnB>
                  </a:tcPr>
                </a:tc>
                <a:tc>
                  <a:txBody>
                    <a:bodyPr/>
                    <a:lstStyle/>
                    <a:p>
                      <a:r>
                        <a:rPr lang="en-IN"/>
                        <a:t>SHAP</a:t>
                      </a:r>
                    </a:p>
                  </a:txBody>
                  <a:tcPr anchor="ctr">
                    <a:lnL>
                      <a:noFill/>
                    </a:lnL>
                    <a:lnR>
                      <a:noFill/>
                    </a:lnR>
                    <a:lnT>
                      <a:noFill/>
                    </a:lnT>
                    <a:lnB>
                      <a:noFill/>
                    </a:lnB>
                  </a:tcPr>
                </a:tc>
                <a:extLst>
                  <a:ext uri="{0D108BD9-81ED-4DB2-BD59-A6C34878D82A}">
                    <a16:rowId xmlns:a16="http://schemas.microsoft.com/office/drawing/2014/main" val="797464827"/>
                  </a:ext>
                </a:extLst>
              </a:tr>
              <a:tr h="0">
                <a:tc>
                  <a:txBody>
                    <a:bodyPr/>
                    <a:lstStyle/>
                    <a:p>
                      <a:r>
                        <a:rPr lang="en-IN"/>
                        <a:t>Visualization</a:t>
                      </a:r>
                    </a:p>
                  </a:txBody>
                  <a:tcPr anchor="ctr">
                    <a:lnL>
                      <a:noFill/>
                    </a:lnL>
                    <a:lnR>
                      <a:noFill/>
                    </a:lnR>
                    <a:lnT>
                      <a:noFill/>
                    </a:lnT>
                    <a:lnB>
                      <a:noFill/>
                    </a:lnB>
                  </a:tcPr>
                </a:tc>
                <a:tc>
                  <a:txBody>
                    <a:bodyPr/>
                    <a:lstStyle/>
                    <a:p>
                      <a:r>
                        <a:rPr lang="en-IN"/>
                        <a:t>Plotly, Matplotlib</a:t>
                      </a:r>
                    </a:p>
                  </a:txBody>
                  <a:tcPr anchor="ctr">
                    <a:lnL>
                      <a:noFill/>
                    </a:lnL>
                    <a:lnR>
                      <a:noFill/>
                    </a:lnR>
                    <a:lnT>
                      <a:noFill/>
                    </a:lnT>
                    <a:lnB>
                      <a:noFill/>
                    </a:lnB>
                  </a:tcPr>
                </a:tc>
                <a:extLst>
                  <a:ext uri="{0D108BD9-81ED-4DB2-BD59-A6C34878D82A}">
                    <a16:rowId xmlns:a16="http://schemas.microsoft.com/office/drawing/2014/main" val="1279991180"/>
                  </a:ext>
                </a:extLst>
              </a:tr>
              <a:tr h="0">
                <a:tc>
                  <a:txBody>
                    <a:bodyPr/>
                    <a:lstStyle/>
                    <a:p>
                      <a:r>
                        <a:rPr lang="en-IN"/>
                        <a:t>Development Tools</a:t>
                      </a:r>
                    </a:p>
                  </a:txBody>
                  <a:tcPr anchor="ctr">
                    <a:lnL>
                      <a:noFill/>
                    </a:lnL>
                    <a:lnR>
                      <a:noFill/>
                    </a:lnR>
                    <a:lnT>
                      <a:noFill/>
                    </a:lnT>
                    <a:lnB>
                      <a:noFill/>
                    </a:lnB>
                  </a:tcPr>
                </a:tc>
                <a:tc>
                  <a:txBody>
                    <a:bodyPr/>
                    <a:lstStyle/>
                    <a:p>
                      <a:r>
                        <a:rPr lang="en-IN" dirty="0"/>
                        <a:t>Git, GitHub, VS Code</a:t>
                      </a:r>
                    </a:p>
                  </a:txBody>
                  <a:tcPr anchor="ctr">
                    <a:lnL>
                      <a:noFill/>
                    </a:lnL>
                    <a:lnR>
                      <a:noFill/>
                    </a:lnR>
                    <a:lnT>
                      <a:noFill/>
                    </a:lnT>
                    <a:lnB>
                      <a:noFill/>
                    </a:lnB>
                  </a:tcPr>
                </a:tc>
                <a:extLst>
                  <a:ext uri="{0D108BD9-81ED-4DB2-BD59-A6C34878D82A}">
                    <a16:rowId xmlns:a16="http://schemas.microsoft.com/office/drawing/2014/main" val="42084904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595472"/>
            <a:ext cx="10515600" cy="1325563"/>
          </a:xfrm>
        </p:spPr>
        <p:txBody>
          <a:bodyPr/>
          <a:lstStyle/>
          <a:p>
            <a:pPr algn="ctr"/>
            <a:r>
              <a:rPr lang="en-US" sz="3200" b="1" dirty="0">
                <a:solidFill>
                  <a:srgbClr val="7030A0"/>
                </a:solidFill>
                <a:latin typeface="Times New Roman" panose="02020603050405020304" pitchFamily="18" charset="0"/>
                <a:cs typeface="Times New Roman" panose="02020603050405020304" pitchFamily="18" charset="0"/>
              </a:rPr>
              <a:t>PROJECT MODULES </a:t>
            </a:r>
          </a:p>
        </p:txBody>
      </p:sp>
      <p:graphicFrame>
        <p:nvGraphicFramePr>
          <p:cNvPr id="4" name="Content Placeholder 3">
            <a:extLst>
              <a:ext uri="{FF2B5EF4-FFF2-40B4-BE49-F238E27FC236}">
                <a16:creationId xmlns:a16="http://schemas.microsoft.com/office/drawing/2014/main" id="{1FADC063-5397-4C3E-BC52-F4C427955525}"/>
              </a:ext>
            </a:extLst>
          </p:cNvPr>
          <p:cNvGraphicFramePr>
            <a:graphicFrameLocks noGrp="1"/>
          </p:cNvGraphicFramePr>
          <p:nvPr>
            <p:ph idx="1"/>
            <p:extLst>
              <p:ext uri="{D42A27DB-BD31-4B8C-83A1-F6EECF244321}">
                <p14:modId xmlns:p14="http://schemas.microsoft.com/office/powerpoint/2010/main" val="382347652"/>
              </p:ext>
            </p:extLst>
          </p:nvPr>
        </p:nvGraphicFramePr>
        <p:xfrm>
          <a:off x="2095500" y="2148840"/>
          <a:ext cx="8462964" cy="2560320"/>
        </p:xfrm>
        <a:graphic>
          <a:graphicData uri="http://schemas.openxmlformats.org/drawingml/2006/table">
            <a:tbl>
              <a:tblPr/>
              <a:tblGrid>
                <a:gridCol w="4231482">
                  <a:extLst>
                    <a:ext uri="{9D8B030D-6E8A-4147-A177-3AD203B41FA5}">
                      <a16:colId xmlns:a16="http://schemas.microsoft.com/office/drawing/2014/main" val="2213807473"/>
                    </a:ext>
                  </a:extLst>
                </a:gridCol>
                <a:gridCol w="4231482">
                  <a:extLst>
                    <a:ext uri="{9D8B030D-6E8A-4147-A177-3AD203B41FA5}">
                      <a16:colId xmlns:a16="http://schemas.microsoft.com/office/drawing/2014/main" val="3666232642"/>
                    </a:ext>
                  </a:extLst>
                </a:gridCol>
              </a:tblGrid>
              <a:tr h="0">
                <a:tc>
                  <a:txBody>
                    <a:bodyPr/>
                    <a:lstStyle/>
                    <a:p>
                      <a:r>
                        <a:rPr lang="en-IN" b="1" dirty="0"/>
                        <a:t>Module</a:t>
                      </a:r>
                      <a:endParaRPr lang="en-IN" dirty="0"/>
                    </a:p>
                  </a:txBody>
                  <a:tcPr anchor="ctr">
                    <a:lnL>
                      <a:noFill/>
                    </a:lnL>
                    <a:lnR>
                      <a:noFill/>
                    </a:lnR>
                    <a:lnT>
                      <a:noFill/>
                    </a:lnT>
                    <a:lnB>
                      <a:noFill/>
                    </a:lnB>
                  </a:tcPr>
                </a:tc>
                <a:tc>
                  <a:txBody>
                    <a:bodyPr/>
                    <a:lstStyle/>
                    <a:p>
                      <a:r>
                        <a:rPr lang="en-IN" b="1"/>
                        <a:t>Function</a:t>
                      </a:r>
                      <a:endParaRPr lang="en-IN"/>
                    </a:p>
                  </a:txBody>
                  <a:tcPr anchor="ctr">
                    <a:lnL>
                      <a:noFill/>
                    </a:lnL>
                    <a:lnR>
                      <a:noFill/>
                    </a:lnR>
                    <a:lnT>
                      <a:noFill/>
                    </a:lnT>
                    <a:lnB>
                      <a:noFill/>
                    </a:lnB>
                  </a:tcPr>
                </a:tc>
                <a:extLst>
                  <a:ext uri="{0D108BD9-81ED-4DB2-BD59-A6C34878D82A}">
                    <a16:rowId xmlns:a16="http://schemas.microsoft.com/office/drawing/2014/main" val="3286161413"/>
                  </a:ext>
                </a:extLst>
              </a:tr>
              <a:tr h="0">
                <a:tc>
                  <a:txBody>
                    <a:bodyPr/>
                    <a:lstStyle/>
                    <a:p>
                      <a:r>
                        <a:rPr lang="en-IN"/>
                        <a:t>Data Collection</a:t>
                      </a:r>
                    </a:p>
                  </a:txBody>
                  <a:tcPr anchor="ctr">
                    <a:lnL>
                      <a:noFill/>
                    </a:lnL>
                    <a:lnR>
                      <a:noFill/>
                    </a:lnR>
                    <a:lnT>
                      <a:noFill/>
                    </a:lnT>
                    <a:lnB>
                      <a:noFill/>
                    </a:lnB>
                  </a:tcPr>
                </a:tc>
                <a:tc>
                  <a:txBody>
                    <a:bodyPr/>
                    <a:lstStyle/>
                    <a:p>
                      <a:r>
                        <a:rPr lang="en-IN"/>
                        <a:t>Gather financial &amp; market data</a:t>
                      </a:r>
                    </a:p>
                  </a:txBody>
                  <a:tcPr anchor="ctr">
                    <a:lnL>
                      <a:noFill/>
                    </a:lnL>
                    <a:lnR>
                      <a:noFill/>
                    </a:lnR>
                    <a:lnT>
                      <a:noFill/>
                    </a:lnT>
                    <a:lnB>
                      <a:noFill/>
                    </a:lnB>
                  </a:tcPr>
                </a:tc>
                <a:extLst>
                  <a:ext uri="{0D108BD9-81ED-4DB2-BD59-A6C34878D82A}">
                    <a16:rowId xmlns:a16="http://schemas.microsoft.com/office/drawing/2014/main" val="3529829373"/>
                  </a:ext>
                </a:extLst>
              </a:tr>
              <a:tr h="0">
                <a:tc>
                  <a:txBody>
                    <a:bodyPr/>
                    <a:lstStyle/>
                    <a:p>
                      <a:r>
                        <a:rPr lang="en-IN"/>
                        <a:t>Data Processing</a:t>
                      </a:r>
                    </a:p>
                  </a:txBody>
                  <a:tcPr anchor="ctr">
                    <a:lnL>
                      <a:noFill/>
                    </a:lnL>
                    <a:lnR>
                      <a:noFill/>
                    </a:lnR>
                    <a:lnT>
                      <a:noFill/>
                    </a:lnT>
                    <a:lnB>
                      <a:noFill/>
                    </a:lnB>
                  </a:tcPr>
                </a:tc>
                <a:tc>
                  <a:txBody>
                    <a:bodyPr/>
                    <a:lstStyle/>
                    <a:p>
                      <a:r>
                        <a:rPr lang="en-IN"/>
                        <a:t>Clean &amp; prepare data</a:t>
                      </a:r>
                    </a:p>
                  </a:txBody>
                  <a:tcPr anchor="ctr">
                    <a:lnL>
                      <a:noFill/>
                    </a:lnL>
                    <a:lnR>
                      <a:noFill/>
                    </a:lnR>
                    <a:lnT>
                      <a:noFill/>
                    </a:lnT>
                    <a:lnB>
                      <a:noFill/>
                    </a:lnB>
                  </a:tcPr>
                </a:tc>
                <a:extLst>
                  <a:ext uri="{0D108BD9-81ED-4DB2-BD59-A6C34878D82A}">
                    <a16:rowId xmlns:a16="http://schemas.microsoft.com/office/drawing/2014/main" val="3067343276"/>
                  </a:ext>
                </a:extLst>
              </a:tr>
              <a:tr h="0">
                <a:tc>
                  <a:txBody>
                    <a:bodyPr/>
                    <a:lstStyle/>
                    <a:p>
                      <a:r>
                        <a:rPr lang="en-IN"/>
                        <a:t>Multi-Factor Analysis</a:t>
                      </a:r>
                    </a:p>
                  </a:txBody>
                  <a:tcPr anchor="ctr">
                    <a:lnL>
                      <a:noFill/>
                    </a:lnL>
                    <a:lnR>
                      <a:noFill/>
                    </a:lnR>
                    <a:lnT>
                      <a:noFill/>
                    </a:lnT>
                    <a:lnB>
                      <a:noFill/>
                    </a:lnB>
                  </a:tcPr>
                </a:tc>
                <a:tc>
                  <a:txBody>
                    <a:bodyPr/>
                    <a:lstStyle/>
                    <a:p>
                      <a:r>
                        <a:rPr lang="en-IN"/>
                        <a:t>Analyze investment factors</a:t>
                      </a:r>
                    </a:p>
                  </a:txBody>
                  <a:tcPr anchor="ctr">
                    <a:lnL>
                      <a:noFill/>
                    </a:lnL>
                    <a:lnR>
                      <a:noFill/>
                    </a:lnR>
                    <a:lnT>
                      <a:noFill/>
                    </a:lnT>
                    <a:lnB>
                      <a:noFill/>
                    </a:lnB>
                  </a:tcPr>
                </a:tc>
                <a:extLst>
                  <a:ext uri="{0D108BD9-81ED-4DB2-BD59-A6C34878D82A}">
                    <a16:rowId xmlns:a16="http://schemas.microsoft.com/office/drawing/2014/main" val="1708114292"/>
                  </a:ext>
                </a:extLst>
              </a:tr>
              <a:tr h="0">
                <a:tc>
                  <a:txBody>
                    <a:bodyPr/>
                    <a:lstStyle/>
                    <a:p>
                      <a:r>
                        <a:rPr lang="en-IN"/>
                        <a:t>Machine Learning</a:t>
                      </a:r>
                    </a:p>
                  </a:txBody>
                  <a:tcPr anchor="ctr">
                    <a:lnL>
                      <a:noFill/>
                    </a:lnL>
                    <a:lnR>
                      <a:noFill/>
                    </a:lnR>
                    <a:lnT>
                      <a:noFill/>
                    </a:lnT>
                    <a:lnB>
                      <a:noFill/>
                    </a:lnB>
                  </a:tcPr>
                </a:tc>
                <a:tc>
                  <a:txBody>
                    <a:bodyPr/>
                    <a:lstStyle/>
                    <a:p>
                      <a:r>
                        <a:rPr lang="en-IN"/>
                        <a:t>Generate investment recommendations</a:t>
                      </a:r>
                    </a:p>
                  </a:txBody>
                  <a:tcPr anchor="ctr">
                    <a:lnL>
                      <a:noFill/>
                    </a:lnL>
                    <a:lnR>
                      <a:noFill/>
                    </a:lnR>
                    <a:lnT>
                      <a:noFill/>
                    </a:lnT>
                    <a:lnB>
                      <a:noFill/>
                    </a:lnB>
                  </a:tcPr>
                </a:tc>
                <a:extLst>
                  <a:ext uri="{0D108BD9-81ED-4DB2-BD59-A6C34878D82A}">
                    <a16:rowId xmlns:a16="http://schemas.microsoft.com/office/drawing/2014/main" val="2124166674"/>
                  </a:ext>
                </a:extLst>
              </a:tr>
              <a:tr h="0">
                <a:tc>
                  <a:txBody>
                    <a:bodyPr/>
                    <a:lstStyle/>
                    <a:p>
                      <a:r>
                        <a:rPr lang="en-IN"/>
                        <a:t>Explainable AI</a:t>
                      </a:r>
                    </a:p>
                  </a:txBody>
                  <a:tcPr anchor="ctr">
                    <a:lnL>
                      <a:noFill/>
                    </a:lnL>
                    <a:lnR>
                      <a:noFill/>
                    </a:lnR>
                    <a:lnT>
                      <a:noFill/>
                    </a:lnT>
                    <a:lnB>
                      <a:noFill/>
                    </a:lnB>
                  </a:tcPr>
                </a:tc>
                <a:tc>
                  <a:txBody>
                    <a:bodyPr/>
                    <a:lstStyle/>
                    <a:p>
                      <a:r>
                        <a:rPr lang="en-IN"/>
                        <a:t>Explain predictions</a:t>
                      </a:r>
                    </a:p>
                  </a:txBody>
                  <a:tcPr anchor="ctr">
                    <a:lnL>
                      <a:noFill/>
                    </a:lnL>
                    <a:lnR>
                      <a:noFill/>
                    </a:lnR>
                    <a:lnT>
                      <a:noFill/>
                    </a:lnT>
                    <a:lnB>
                      <a:noFill/>
                    </a:lnB>
                  </a:tcPr>
                </a:tc>
                <a:extLst>
                  <a:ext uri="{0D108BD9-81ED-4DB2-BD59-A6C34878D82A}">
                    <a16:rowId xmlns:a16="http://schemas.microsoft.com/office/drawing/2014/main" val="4105151453"/>
                  </a:ext>
                </a:extLst>
              </a:tr>
              <a:tr h="0">
                <a:tc>
                  <a:txBody>
                    <a:bodyPr/>
                    <a:lstStyle/>
                    <a:p>
                      <a:r>
                        <a:rPr lang="en-IN"/>
                        <a:t>Dashboard</a:t>
                      </a:r>
                    </a:p>
                  </a:txBody>
                  <a:tcPr anchor="ctr">
                    <a:lnL>
                      <a:noFill/>
                    </a:lnL>
                    <a:lnR>
                      <a:noFill/>
                    </a:lnR>
                    <a:lnT>
                      <a:noFill/>
                    </a:lnT>
                    <a:lnB>
                      <a:noFill/>
                    </a:lnB>
                  </a:tcPr>
                </a:tc>
                <a:tc>
                  <a:txBody>
                    <a:bodyPr/>
                    <a:lstStyle/>
                    <a:p>
                      <a:r>
                        <a:rPr lang="en-IN" dirty="0"/>
                        <a:t>Visualize insights &amp; reports</a:t>
                      </a:r>
                    </a:p>
                  </a:txBody>
                  <a:tcPr anchor="ctr">
                    <a:lnL>
                      <a:noFill/>
                    </a:lnL>
                    <a:lnR>
                      <a:noFill/>
                    </a:lnR>
                    <a:lnT>
                      <a:noFill/>
                    </a:lnT>
                    <a:lnB>
                      <a:noFill/>
                    </a:lnB>
                  </a:tcPr>
                </a:tc>
                <a:extLst>
                  <a:ext uri="{0D108BD9-81ED-4DB2-BD59-A6C34878D82A}">
                    <a16:rowId xmlns:a16="http://schemas.microsoft.com/office/drawing/2014/main" val="4120083746"/>
                  </a:ext>
                </a:extLst>
              </a:tr>
            </a:tbl>
          </a:graphicData>
        </a:graphic>
      </p:graphicFrame>
      <p:sp>
        <p:nvSpPr>
          <p:cNvPr id="5" name="Slide Number Placeholder 4"/>
          <p:cNvSpPr>
            <a:spLocks noGrp="1"/>
          </p:cNvSpPr>
          <p:nvPr>
            <p:ph type="sldNum" sz="quarter" idx="12"/>
          </p:nvPr>
        </p:nvSpPr>
        <p:spPr/>
        <p:txBody>
          <a:bodyPr/>
          <a:lstStyle/>
          <a:p>
            <a:fld id="{FF913B45-0786-488C-9F83-DB626DC1C02A}" type="slidenum">
              <a:rPr lang="en-IN" smtClean="0"/>
              <a:t>7</a:t>
            </a:fld>
            <a:endParaRPr lang="en-IN"/>
          </a:p>
        </p:txBody>
      </p:sp>
      <p:sp>
        <p:nvSpPr>
          <p:cNvPr id="6" name="Date Placeholder 5">
            <a:extLst>
              <a:ext uri="{FF2B5EF4-FFF2-40B4-BE49-F238E27FC236}">
                <a16:creationId xmlns:a16="http://schemas.microsoft.com/office/drawing/2014/main" id="{C95FCD2A-9D63-4805-9AE2-79D9B0250B05}"/>
              </a:ext>
            </a:extLst>
          </p:cNvPr>
          <p:cNvSpPr>
            <a:spLocks noGrp="1"/>
          </p:cNvSpPr>
          <p:nvPr>
            <p:ph type="dt" sz="half" idx="10"/>
          </p:nvPr>
        </p:nvSpPr>
        <p:spPr>
          <a:xfrm>
            <a:off x="838200" y="6356350"/>
            <a:ext cx="2743200" cy="365125"/>
          </a:xfrm>
        </p:spPr>
        <p:txBody>
          <a:bodyPr/>
          <a:lstStyle/>
          <a:p>
            <a:r>
              <a:rPr lang="en-IN" dirty="0"/>
              <a:t>13-07-2026</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756" y="410368"/>
            <a:ext cx="10515600" cy="1325563"/>
          </a:xfrm>
        </p:spPr>
        <p:txBody>
          <a:bodyPr>
            <a:normAutofit/>
          </a:bodyPr>
          <a:lstStyle/>
          <a:p>
            <a:pPr algn="ctr"/>
            <a:r>
              <a:rPr lang="en-IN" altLang="en-US" sz="3200" b="1" dirty="0">
                <a:solidFill>
                  <a:srgbClr val="7030A0"/>
                </a:solidFill>
                <a:latin typeface="Times New Roman" panose="02020603050405020304" pitchFamily="18" charset="0"/>
                <a:cs typeface="Times New Roman" panose="02020603050405020304" pitchFamily="18" charset="0"/>
              </a:rPr>
              <a:t>CONCLUSION </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02080" y="1735931"/>
            <a:ext cx="9387840" cy="4351338"/>
          </a:xfrm>
        </p:spPr>
        <p:txBody>
          <a:bodyPr>
            <a:normAutofit/>
          </a:bodyPr>
          <a:lstStyle/>
          <a:p>
            <a:pPr marL="0" indent="0" algn="just">
              <a:lnSpc>
                <a:spcPct val="150000"/>
              </a:lnSpc>
              <a:buNone/>
            </a:pPr>
            <a:r>
              <a:rPr lang="en-US" sz="2000" dirty="0"/>
              <a:t>The </a:t>
            </a:r>
            <a:r>
              <a:rPr lang="en-US" sz="2000" b="1" dirty="0"/>
              <a:t>Multi-Factor Investment Intelligence Platform</a:t>
            </a:r>
            <a:r>
              <a:rPr lang="en-US" sz="2000" dirty="0"/>
              <a:t> provides a comprehensive and data-driven approach to investment analysis by integrating financial, technical, sentiment, and risk factors into a single intelligent system. By leveraging Machine Learning and Explainable AI, the platform delivers transparent investment recommendations and interactive visual insights. This solution enables investors to make informed decisions with greater confidence while demonstrating the practical application of data science and artificial intelligence in the financial domain.</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F913B45-0786-488C-9F83-DB626DC1C02A}" type="slidenum">
              <a:rPr lang="en-IN" smtClean="0"/>
              <a:t>8</a:t>
            </a:fld>
            <a:endParaRPr lang="en-IN"/>
          </a:p>
        </p:txBody>
      </p:sp>
      <p:sp>
        <p:nvSpPr>
          <p:cNvPr id="6" name="Date Placeholder 5">
            <a:extLst>
              <a:ext uri="{FF2B5EF4-FFF2-40B4-BE49-F238E27FC236}">
                <a16:creationId xmlns:a16="http://schemas.microsoft.com/office/drawing/2014/main" id="{814456B2-5CE6-4F66-97D9-3E1FAC16ED94}"/>
              </a:ext>
            </a:extLst>
          </p:cNvPr>
          <p:cNvSpPr>
            <a:spLocks noGrp="1"/>
          </p:cNvSpPr>
          <p:nvPr>
            <p:ph type="dt" sz="half" idx="10"/>
          </p:nvPr>
        </p:nvSpPr>
        <p:spPr>
          <a:xfrm>
            <a:off x="838200" y="6356350"/>
            <a:ext cx="2743200" cy="365125"/>
          </a:xfrm>
        </p:spPr>
        <p:txBody>
          <a:bodyPr/>
          <a:lstStyle/>
          <a:p>
            <a:r>
              <a:rPr lang="en-IN" dirty="0"/>
              <a:t>13-07-2026</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TotalTime>
  <Words>466</Words>
  <Application>Microsoft Office PowerPoint</Application>
  <PresentationFormat>Widescreen</PresentationFormat>
  <Paragraphs>116</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Office Theme</vt:lpstr>
      <vt:lpstr>PowerPoint Presentation</vt:lpstr>
      <vt:lpstr>PowerPoint Presentation</vt:lpstr>
      <vt:lpstr> Abstract   </vt:lpstr>
      <vt:lpstr>CONCEPT &amp; SCOPE OF SOLUTION</vt:lpstr>
      <vt:lpstr>PROPOSED METHOD</vt:lpstr>
      <vt:lpstr>TECHNOLOGY USED</vt:lpstr>
      <vt:lpstr>PROJECT MODULES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Dhanushya Thangavel</cp:lastModifiedBy>
  <cp:revision>33</cp:revision>
  <dcterms:created xsi:type="dcterms:W3CDTF">2025-03-03T05:54:00Z</dcterms:created>
  <dcterms:modified xsi:type="dcterms:W3CDTF">2026-08-05T10:42:47Z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72C6BE389C92494E9E8DC7CA84091305_13</vt:lpwstr>
  </property>
</Properties>
</file>